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6" r:id="rId21"/>
    <p:sldId id="267" r:id="rId22"/>
    <p:sldId id="268" r:id="rId23"/>
    <p:sldId id="265" r:id="rId12"/>
  </p:sldIdLst>
  <p:sldSz cx="18288000" cy="10287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685800" y="2130425"/>
            <a:ext cx="7772400" cy="1470025"/>
          </a:xfrm>
        </p:spPr>
        <p:txBody>
          <a:bodyPr/>
          <a:lstStyle/>
          <a:p>
            <a: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1D8BD707-D9CF-40AE-B4C6-C98DA3205C09}"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p:txBody>
          <a:bodyPr/>
          <a:lstStyle>
            <a:lvl1pPr>
              <a:buNone/>
              <a:defRPr/>
            </a:lvl1pPr>
          </a:lstStyle>
          <a:p>
            <a: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1D8BD707-D9CF-40AE-B4C6-C98DA3205C09}" type="datetimeFigureOut">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1D8BD707-D9CF-40AE-B4C6-C98DA3205C09}" type="datetimeFigureOut">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1D8BD707-D9CF-40AE-B4C6-C98DA3205C09}" type="datetimeFigureOut">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1D8BD707-D9CF-40AE-B4C6-C98DA3205C09}"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1D8BD707-D9CF-40AE-B4C6-C98DA3205C09}"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D8BD707-D9CF-40AE-B4C6-C98DA3205C09}"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rPr/>
            </a:fld>
            <a:endParaRPr/>
          </a:p>
        </p:txBody>
      </p:sp>
      <p:sp>
        <p:nvSpPr>
          <p:cNvPr id="5" name="Footer Placeholder 4"/>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slideLayout" Target="../slideLayouts/slideLayout7.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slideLayout" Target="../slideLayouts/slideLayout7.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0.png"/><Relationship Id="rId4" Type="http://schemas.openxmlformats.org/officeDocument/2006/relationships/image" Target="../media/image11.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12.png"/><Relationship Id="rId8" Type="http://schemas.openxmlformats.org/officeDocument/2006/relationships/slideLayout" Target="../slideLayouts/slideLayout7.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4.png"/><Relationship Id="rId8" Type="http://schemas.openxmlformats.org/officeDocument/2006/relationships/image" Target="../media/image13.png"/><Relationship Id="rId9" Type="http://schemas.openxmlformats.org/officeDocument/2006/relationships/slideLayout" Target="../slideLayouts/slideLayout7.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4.png"/><Relationship Id="rId9" Type="http://schemas.openxmlformats.org/officeDocument/2006/relationships/image" Target="../media/image5.png"/><Relationship Id="rId10" Type="http://schemas.openxmlformats.org/officeDocument/2006/relationships/image" Target="../media/image6.svg"/><Relationship Id="rId11" Type="http://schemas.openxmlformats.org/officeDocument/2006/relationships/slideLayout" Target="../slideLayouts/slideLayout7.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15.pn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slideLayout" Target="../slideLayouts/slideLayout7.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3.pn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slideLayout" Target="../slideLayouts/slideLayout7.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14.pn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16.png"/><Relationship Id="rId9" Type="http://schemas.openxmlformats.org/officeDocument/2006/relationships/slideLayout" Target="../slideLayouts/slideLayout7.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12.png"/><Relationship Id="rId8" Type="http://schemas.openxmlformats.org/officeDocument/2006/relationships/image" Target="../media/image17.png"/><Relationship Id="rId9" Type="http://schemas.openxmlformats.org/officeDocument/2006/relationships/slideLayout" Target="../slideLayouts/slideLayout7.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image" Target="../media/image3.png"/><Relationship Id="rId9" Type="http://schemas.openxmlformats.org/officeDocument/2006/relationships/image" Target="../media/image10.png"/><Relationship Id="rId10" Type="http://schemas.openxmlformats.org/officeDocument/2006/relationships/image" Target="../media/image1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flipV="1">
            <a:off x="-847368" y="-270713"/>
            <a:ext cx="6509105" cy="4296009"/>
          </a:xfrm>
          <a:custGeom>
            <a:avLst/>
            <a:gdLst/>
            <a:ahLst/>
            <a:cxnLst/>
            <a:rect l="l" t="t" r="r" b="b"/>
            <a:pathLst>
              <a:path w="6509105" h="4296009">
                <a:moveTo>
                  <a:pt x="0" y="4296010"/>
                </a:moveTo>
                <a:lnTo>
                  <a:pt x="6509105" y="4296010"/>
                </a:lnTo>
                <a:lnTo>
                  <a:pt x="6509105" y="0"/>
                </a:lnTo>
                <a:lnTo>
                  <a:pt x="0" y="0"/>
                </a:lnTo>
                <a:lnTo>
                  <a:pt x="0" y="4296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a:spLocks noGrp="1"/>
          </p:cNvSpPr>
          <p:nvPr/>
        </p:nvSpPr>
        <p:spPr>
          <a:xfrm>
            <a:off x="317393" y="2767505"/>
            <a:ext cx="4899184" cy="7312215"/>
          </a:xfrm>
          <a:custGeom>
            <a:avLst/>
            <a:gdLst/>
            <a:ahLst/>
            <a:cxnLst/>
            <a:rect l="l" t="t" r="r" b="b"/>
            <a:pathLst>
              <a:path w="4899184" h="7312215">
                <a:moveTo>
                  <a:pt x="0" y="0"/>
                </a:moveTo>
                <a:lnTo>
                  <a:pt x="4899184" y="0"/>
                </a:lnTo>
                <a:lnTo>
                  <a:pt x="4899184" y="7312215"/>
                </a:lnTo>
                <a:lnTo>
                  <a:pt x="0" y="7312215"/>
                </a:lnTo>
                <a:lnTo>
                  <a:pt x="0" y="0"/>
                </a:lnTo>
                <a:close/>
              </a:path>
            </a:pathLst>
          </a:custGeom>
          <a:blipFill>
            <a:blip r:embed="rId3"/>
            <a:stretch>
              <a:fillRect/>
            </a:stretch>
          </a:blipFill>
        </p:spPr>
      </p:sp>
      <p:sp>
        <p:nvSpPr>
          <p:cNvPr id="4" name="Freeform 4"/>
          <p:cNvSpPr>
            <a:spLocks noGrp="1"/>
          </p:cNvSpPr>
          <p:nvPr/>
        </p:nvSpPr>
        <p:spPr>
          <a:xfrm rot="-2700000">
            <a:off x="12821617" y="649685"/>
            <a:ext cx="6234545" cy="4114800"/>
          </a:xfrm>
          <a:custGeom>
            <a:avLst/>
            <a:gdLst/>
            <a:ahLst/>
            <a:cxnLst/>
            <a:rect l="l" t="t" r="r" b="b"/>
            <a:pathLst>
              <a:path w="6234545" h="4114800">
                <a:moveTo>
                  <a:pt x="0" y="0"/>
                </a:moveTo>
                <a:lnTo>
                  <a:pt x="6234546" y="0"/>
                </a:lnTo>
                <a:lnTo>
                  <a:pt x="6234546"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a:spLocks noGrp="1"/>
          </p:cNvSpPr>
          <p:nvPr/>
        </p:nvSpPr>
        <p:spPr>
          <a:xfrm>
            <a:off x="13100105" y="2111543"/>
            <a:ext cx="4402836" cy="8229600"/>
          </a:xfrm>
          <a:custGeom>
            <a:avLst/>
            <a:gdLst/>
            <a:ahLst/>
            <a:cxnLst/>
            <a:rect l="l" t="t" r="r" b="b"/>
            <a:pathLst>
              <a:path w="4402836" h="8229600">
                <a:moveTo>
                  <a:pt x="0" y="0"/>
                </a:moveTo>
                <a:lnTo>
                  <a:pt x="4402836" y="0"/>
                </a:lnTo>
                <a:lnTo>
                  <a:pt x="4402836" y="8229600"/>
                </a:lnTo>
                <a:lnTo>
                  <a:pt x="0" y="8229600"/>
                </a:lnTo>
                <a:lnTo>
                  <a:pt x="0" y="0"/>
                </a:lnTo>
                <a:close/>
              </a:path>
            </a:pathLst>
          </a:custGeom>
          <a:blipFill>
            <a:blip r:embed="rId4"/>
            <a:stretch>
              <a:fillRect/>
            </a:stretch>
          </a:blipFill>
        </p:spPr>
      </p:sp>
      <p:sp>
        <p:nvSpPr>
          <p:cNvPr id="6" name="Freeform 6"/>
          <p:cNvSpPr>
            <a:spLocks noGrp="1"/>
          </p:cNvSpPr>
          <p:nvPr/>
        </p:nvSpPr>
        <p:spPr>
          <a:xfrm>
            <a:off x="12467684" y="7334746"/>
            <a:ext cx="982286" cy="969784"/>
          </a:xfrm>
          <a:custGeom>
            <a:avLst/>
            <a:gdLst/>
            <a:ahLst/>
            <a:cxnLst/>
            <a:rect l="l" t="t" r="r" b="b"/>
            <a:pathLst>
              <a:path w="982286" h="969784">
                <a:moveTo>
                  <a:pt x="0" y="0"/>
                </a:moveTo>
                <a:lnTo>
                  <a:pt x="982286" y="0"/>
                </a:lnTo>
                <a:lnTo>
                  <a:pt x="982286" y="969784"/>
                </a:lnTo>
                <a:lnTo>
                  <a:pt x="0" y="969784"/>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rnd">
            <a:noFill/>
            <a:prstDash val="solid"/>
            <a:round/>
          </a:ln>
        </p:spPr>
      </p:sp>
      <p:sp>
        <p:nvSpPr>
          <p:cNvPr id="7" name="Freeform 7"/>
          <p:cNvSpPr>
            <a:spLocks noGrp="1"/>
          </p:cNvSpPr>
          <p:nvPr/>
        </p:nvSpPr>
        <p:spPr>
          <a:xfrm rot="-2017032">
            <a:off x="5933782" y="8588220"/>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TextBox 8"/>
          <p:cNvSpPr>
            <a:spLocks noGrp="1"/>
          </p:cNvSpPr>
          <p:nvPr/>
        </p:nvSpPr>
        <p:spPr>
          <a:xfrm>
            <a:off x="4876800" y="2400300"/>
            <a:ext cx="8996045" cy="2952115"/>
          </a:xfrm>
          <a:prstGeom prst="rect">
            <a:avLst/>
          </a:prstGeom>
        </p:spPr>
        <p:txBody>
          <a:bodyPr wrap="square" lIns="0" tIns="0" rIns="0" bIns="0" anchor="t">
            <a:spAutoFit/>
          </a:bodyPr>
          <a:lstStyle/>
          <a:p>
            <a:pPr algn="ctr">
              <a:lnSpc>
                <a:spcPts val="11510"/>
              </a:lnSpc>
              <a:buNone/>
            </a:pPr>
            <a:r>
              <a:rPr sz="13545">
                <a:solidFill>
                  <a:srgbClr val="000000"/>
                </a:solidFill>
                <a:latin typeface="Segoe UI"/>
                <a:ea typeface="Segoe UI"/>
                <a:cs typeface="Segoe UI"/>
              </a:rPr>
              <a:t>AI Career Navigator</a:t>
            </a:r>
            <a:endParaRPr sz="13545">
              <a:solidFill>
                <a:srgbClr val="000000"/>
              </a:solidFill>
              <a:latin typeface="Segoe UI"/>
              <a:ea typeface="Segoe UI"/>
              <a:cs typeface="Segoe UI"/>
            </a:endParaRPr>
          </a:p>
        </p:txBody>
      </p:sp>
      <p:sp>
        <p:nvSpPr>
          <p:cNvPr id="9" name="TextBox 9"/>
          <p:cNvSpPr>
            <a:spLocks noGrp="1"/>
          </p:cNvSpPr>
          <p:nvPr/>
        </p:nvSpPr>
        <p:spPr>
          <a:xfrm>
            <a:off x="5753390" y="7017086"/>
            <a:ext cx="6576564" cy="1001749"/>
          </a:xfrm>
          <a:prstGeom prst="rect">
            <a:avLst/>
          </a:prstGeom>
        </p:spPr>
        <p:txBody>
          <a:bodyPr lIns="0" tIns="0" rIns="0" bIns="0" anchor="ctr"/>
          <a:lstStyle/>
          <a:p>
            <a:pPr algn="ctr">
              <a:lnSpc>
                <a:spcPts val="4095"/>
              </a:lnSpc>
              <a:buNone/>
            </a:pPr>
            <a:r>
              <a:rPr sz="2925" b="0">
                <a:solidFill>
                  <a:srgbClr val="5F8F33"/>
                </a:solidFill>
                <a:latin typeface="Segoe UI"/>
                <a:ea typeface="Segoe UI"/>
                <a:cs typeface="Segoe UI"/>
              </a:rPr>
              <a:t>Created by Team 418 I’m a teapot</a:t>
            </a:r>
          </a:p>
        </p:txBody>
      </p:sp>
      <p:sp>
        <p:nvSpPr>
          <p:cNvPr id="10" name="TextBox 10"/>
          <p:cNvSpPr>
            <a:spLocks noGrp="1"/>
          </p:cNvSpPr>
          <p:nvPr/>
        </p:nvSpPr>
        <p:spPr>
          <a:xfrm>
            <a:off x="4160520" y="1281348"/>
            <a:ext cx="9784080" cy="438719"/>
          </a:xfrm>
          <a:prstGeom prst="rect">
            <a:avLst/>
          </a:prstGeom>
        </p:spPr>
        <p:txBody>
          <a:bodyPr lIns="0" tIns="0" rIns="0" bIns="0" anchor="ctr"/>
          <a:lstStyle/>
          <a:p>
            <a:pPr algn="ctr">
              <a:lnSpc>
                <a:spcPts val="3645"/>
              </a:lnSpc>
              <a:buNone/>
            </a:pPr>
            <a:r>
              <a:rPr sz="2200" b="0">
                <a:solidFill>
                  <a:srgbClr val="2D6B57"/>
                </a:solidFill>
                <a:latin typeface="Segoe UI"/>
                <a:ea typeface="Segoe UI"/>
                <a:cs typeface="Segoe UI"/>
              </a:rPr>
              <a:t>SDC 2026   ·   DOMAIN 1</a:t>
            </a:r>
          </a:p>
          <a:p>
            <a:pPr algn="ctr">
              <a:lnSpc>
                <a:spcPts val="3645"/>
              </a:lnSpc>
              <a:buNone/>
            </a:pPr>
            <a:r>
              <a:rPr sz="2200" b="0">
                <a:solidFill>
                  <a:srgbClr val="2D6B57"/>
                </a:solidFill>
                <a:latin typeface="Segoe UI"/>
                <a:ea typeface="Segoe UI"/>
                <a:cs typeface="Segoe UI"/>
              </a:rPr>
              <a:t>FUTURE-READY WORKFORCE</a:t>
            </a:r>
          </a:p>
        </p:txBody>
      </p:sp>
      <p:sp>
        <p:nvSpPr>
          <p:cNvPr id="11" name="Freeform 11"/>
          <p:cNvSpPr>
            <a:spLocks noGrp="1"/>
          </p:cNvSpPr>
          <p:nvPr/>
        </p:nvSpPr>
        <p:spPr>
          <a:xfrm rot="-2017032">
            <a:off x="12056106" y="829305"/>
            <a:ext cx="932060" cy="1607000"/>
          </a:xfrm>
          <a:custGeom>
            <a:avLst/>
            <a:gdLst/>
            <a:ahLst/>
            <a:cxnLst/>
            <a:rect l="l" t="t" r="r" b="b"/>
            <a:pathLst>
              <a:path w="932060" h="1607000">
                <a:moveTo>
                  <a:pt x="0" y="0"/>
                </a:moveTo>
                <a:lnTo>
                  <a:pt x="932060" y="0"/>
                </a:lnTo>
                <a:lnTo>
                  <a:pt x="932060" y="1607000"/>
                </a:lnTo>
                <a:lnTo>
                  <a:pt x="0" y="1607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a:spLocks noGrp="1"/>
          </p:cNvSpPr>
          <p:nvPr/>
        </p:nvSpPr>
        <p:spPr>
          <a:xfrm>
            <a:off x="622892" y="6423612"/>
            <a:ext cx="982286" cy="969784"/>
          </a:xfrm>
          <a:custGeom>
            <a:avLst/>
            <a:gdLst/>
            <a:ahLst/>
            <a:cxnLst/>
            <a:rect l="l" t="t" r="r" b="b"/>
            <a:pathLst>
              <a:path w="982286" h="969784">
                <a:moveTo>
                  <a:pt x="0" y="0"/>
                </a:moveTo>
                <a:lnTo>
                  <a:pt x="982286" y="0"/>
                </a:lnTo>
                <a:lnTo>
                  <a:pt x="982286" y="969785"/>
                </a:lnTo>
                <a:lnTo>
                  <a:pt x="0" y="969785"/>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rnd">
            <a:noFill/>
            <a:prstDash val="solid"/>
            <a:roun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rot="-9232430">
            <a:off x="12984045" y="-406095"/>
            <a:ext cx="6234545" cy="4114800"/>
          </a:xfrm>
          <a:custGeom>
            <a:avLst/>
            <a:gdLst/>
            <a:ahLst/>
            <a:cxnLst/>
            <a:rect l="l" t="t" r="r" b="b"/>
            <a:pathLst>
              <a:path w="6234545" h="4114800">
                <a:moveTo>
                  <a:pt x="0" y="0"/>
                </a:moveTo>
                <a:lnTo>
                  <a:pt x="6234546" y="0"/>
                </a:lnTo>
                <a:lnTo>
                  <a:pt x="6234546"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a:spLocks noGrp="1"/>
          </p:cNvSpPr>
          <p:nvPr/>
        </p:nvSpPr>
        <p:spPr>
          <a:xfrm>
            <a:off x="1028700" y="5256558"/>
            <a:ext cx="982286" cy="969784"/>
          </a:xfrm>
          <a:custGeom>
            <a:avLst/>
            <a:gdLst/>
            <a:ahLst/>
            <a:cxnLst/>
            <a:rect l="l" t="t" r="r" b="b"/>
            <a:pathLst>
              <a:path w="982286" h="969784">
                <a:moveTo>
                  <a:pt x="0" y="0"/>
                </a:moveTo>
                <a:lnTo>
                  <a:pt x="982286" y="0"/>
                </a:lnTo>
                <a:lnTo>
                  <a:pt x="982286" y="969785"/>
                </a:lnTo>
                <a:lnTo>
                  <a:pt x="0" y="969785"/>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rnd">
            <a:noFill/>
            <a:prstDash val="solid"/>
            <a:round/>
          </a:ln>
        </p:spPr>
      </p:sp>
      <p:sp>
        <p:nvSpPr>
          <p:cNvPr id="4" name="Freeform 4"/>
          <p:cNvSpPr>
            <a:spLocks noGrp="1"/>
          </p:cNvSpPr>
          <p:nvPr/>
        </p:nvSpPr>
        <p:spPr>
          <a:xfrm rot="-2017032">
            <a:off x="16844993" y="6082493"/>
            <a:ext cx="828613" cy="1428643"/>
          </a:xfrm>
          <a:custGeom>
            <a:avLst/>
            <a:gdLst/>
            <a:ahLst/>
            <a:cxnLst/>
            <a:rect l="l" t="t" r="r" b="b"/>
            <a:pathLst>
              <a:path w="828613" h="1428643">
                <a:moveTo>
                  <a:pt x="0" y="0"/>
                </a:moveTo>
                <a:lnTo>
                  <a:pt x="828614" y="0"/>
                </a:lnTo>
                <a:lnTo>
                  <a:pt x="828614" y="1428643"/>
                </a:lnTo>
                <a:lnTo>
                  <a:pt x="0" y="14286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a:spLocks noGrp="1"/>
          </p:cNvSpPr>
          <p:nvPr/>
        </p:nvSpPr>
        <p:spPr>
          <a:xfrm rot="-2017032">
            <a:off x="9896831" y="749581"/>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a:spLocks noGrp="1"/>
          </p:cNvSpPr>
          <p:nvPr/>
        </p:nvSpPr>
        <p:spPr>
          <a:xfrm>
            <a:off x="937459" y="7385161"/>
            <a:ext cx="982286" cy="969784"/>
          </a:xfrm>
          <a:custGeom>
            <a:avLst/>
            <a:gdLst/>
            <a:ahLst/>
            <a:cxnLst/>
            <a:rect l="l" t="t" r="r" b="b"/>
            <a:pathLst>
              <a:path w="982286" h="969784">
                <a:moveTo>
                  <a:pt x="0" y="0"/>
                </a:moveTo>
                <a:lnTo>
                  <a:pt x="982286" y="0"/>
                </a:lnTo>
                <a:lnTo>
                  <a:pt x="982286" y="969785"/>
                </a:lnTo>
                <a:lnTo>
                  <a:pt x="0" y="969785"/>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rnd">
            <a:noFill/>
            <a:prstDash val="solid"/>
            <a:round/>
          </a:ln>
        </p:spPr>
      </p:sp>
      <p:sp>
        <p:nvSpPr>
          <p:cNvPr id="8" name="Freeform 8"/>
          <p:cNvSpPr>
            <a:spLocks noGrp="1"/>
          </p:cNvSpPr>
          <p:nvPr/>
        </p:nvSpPr>
        <p:spPr>
          <a:xfrm>
            <a:off x="11048921" y="6491809"/>
            <a:ext cx="5837451" cy="583745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CD34"/>
          </a:solidFill>
        </p:spPr>
      </p:sp>
      <p:sp>
        <p:nvSpPr>
          <p:cNvPr id="9" name="TextBox 9"/>
          <p:cNvSpPr>
            <a:spLocks noGrp="1"/>
          </p:cNvSpPr>
          <p:nvPr/>
        </p:nvSpPr>
        <p:spPr>
          <a:xfrm>
            <a:off x="11596182" y="6765439"/>
            <a:ext cx="4742928" cy="5016559"/>
          </a:xfrm>
          <a:prstGeom prst="rect">
            <a:avLst/>
          </a:prstGeom>
        </p:spPr>
        <p:txBody>
          <a:bodyPr lIns="50800" tIns="50800" rIns="50800" bIns="50800" anchor="ctr"/>
          <a:lstStyle/>
          <a:p>
            <a:pPr algn="ctr">
              <a:lnSpc>
                <a:spcPts val="2660"/>
              </a:lnSpc>
              <a:spcBef>
                <a:spcPct val="0"/>
              </a:spcBef>
              <a:buNone/>
            </a:pPr>
          </a:p>
        </p:txBody>
      </p:sp>
      <p:sp>
        <p:nvSpPr>
          <p:cNvPr id="10" name="Freeform 10"/>
          <p:cNvSpPr>
            <a:spLocks noGrp="1"/>
          </p:cNvSpPr>
          <p:nvPr/>
        </p:nvSpPr>
        <p:spPr>
          <a:xfrm>
            <a:off x="11689196" y="2219836"/>
            <a:ext cx="4887428" cy="9050793"/>
          </a:xfrm>
          <a:custGeom>
            <a:avLst/>
            <a:gdLst/>
            <a:ahLst/>
            <a:cxnLst/>
            <a:rect l="l" t="t" r="r" b="b"/>
            <a:pathLst>
              <a:path w="4887428" h="9050793">
                <a:moveTo>
                  <a:pt x="0" y="0"/>
                </a:moveTo>
                <a:lnTo>
                  <a:pt x="4887428" y="0"/>
                </a:lnTo>
                <a:lnTo>
                  <a:pt x="4887428" y="9050793"/>
                </a:lnTo>
                <a:lnTo>
                  <a:pt x="0" y="9050793"/>
                </a:lnTo>
                <a:lnTo>
                  <a:pt x="0" y="0"/>
                </a:lnTo>
                <a:close/>
              </a:path>
            </a:pathLst>
          </a:custGeom>
          <a:blipFill>
            <a:blip r:embed="rId7"/>
            <a:stretch>
              <a:fillRect/>
            </a:stretch>
          </a:blipFill>
        </p:spPr>
      </p:sp>
      <p:sp>
        <p:nvSpPr>
          <p:cNvPr id="11" name="TextBox 11"/>
          <p:cNvSpPr>
            <a:spLocks noGrp="1"/>
          </p:cNvSpPr>
          <p:nvPr/>
        </p:nvSpPr>
        <p:spPr>
          <a:xfrm>
            <a:off x="1337338" y="2283994"/>
            <a:ext cx="7942514" cy="2414270"/>
          </a:xfrm>
          <a:prstGeom prst="rect">
            <a:avLst/>
          </a:prstGeom>
        </p:spPr>
        <p:txBody>
          <a:bodyPr lIns="0" tIns="0" rIns="0" bIns="0" anchor="ctr"/>
          <a:lstStyle>
            <a:defPPr algn="l">
              <a:defRPr sz="7800">
                <a:solidFill>
                  <a:srgbClr val="173F35"/>
                </a:solidFill>
                <a:latin typeface="Segoe UI"/>
                <a:ea typeface="Segoe UI"/>
                <a:cs typeface="Segoe UI"/>
              </a:defRPr>
            </a:defPPr>
            <a:lvl1pPr algn="l">
              <a:defRPr sz="7800">
                <a:solidFill>
                  <a:srgbClr val="173F35"/>
                </a:solidFill>
                <a:latin typeface="Segoe UI"/>
                <a:ea typeface="Segoe UI"/>
                <a:cs typeface="Segoe UI"/>
              </a:defRPr>
            </a:lvl1pPr>
            <a:lvl2pPr algn="l">
              <a:defRPr sz="7800">
                <a:solidFill>
                  <a:srgbClr val="173F35"/>
                </a:solidFill>
                <a:latin typeface="Segoe UI"/>
                <a:ea typeface="Segoe UI"/>
                <a:cs typeface="Segoe UI"/>
              </a:defRPr>
            </a:lvl2pPr>
            <a:lvl3pPr algn="l">
              <a:defRPr sz="7800">
                <a:solidFill>
                  <a:srgbClr val="173F35"/>
                </a:solidFill>
                <a:latin typeface="Segoe UI"/>
                <a:ea typeface="Segoe UI"/>
                <a:cs typeface="Segoe UI"/>
              </a:defRPr>
            </a:lvl3pPr>
            <a:lvl4pPr algn="l">
              <a:defRPr sz="7800">
                <a:solidFill>
                  <a:srgbClr val="173F35"/>
                </a:solidFill>
                <a:latin typeface="Segoe UI"/>
                <a:ea typeface="Segoe UI"/>
                <a:cs typeface="Segoe UI"/>
              </a:defRPr>
            </a:lvl4pPr>
            <a:lvl5pPr algn="l">
              <a:defRPr sz="7800">
                <a:solidFill>
                  <a:srgbClr val="173F35"/>
                </a:solidFill>
                <a:latin typeface="Segoe UI"/>
                <a:ea typeface="Segoe UI"/>
                <a:cs typeface="Segoe UI"/>
              </a:defRPr>
            </a:lvl5pPr>
            <a:lvl6pPr algn="l">
              <a:defRPr sz="7800">
                <a:solidFill>
                  <a:srgbClr val="173F35"/>
                </a:solidFill>
                <a:latin typeface="Segoe UI"/>
                <a:ea typeface="Segoe UI"/>
                <a:cs typeface="Segoe UI"/>
              </a:defRPr>
            </a:lvl6pPr>
            <a:lvl7pPr algn="l">
              <a:defRPr sz="7800">
                <a:solidFill>
                  <a:srgbClr val="173F35"/>
                </a:solidFill>
                <a:latin typeface="Segoe UI"/>
                <a:ea typeface="Segoe UI"/>
                <a:cs typeface="Segoe UI"/>
              </a:defRPr>
            </a:lvl7pPr>
            <a:lvl8pPr algn="l">
              <a:defRPr sz="7800">
                <a:solidFill>
                  <a:srgbClr val="173F35"/>
                </a:solidFill>
                <a:latin typeface="Segoe UI"/>
                <a:ea typeface="Segoe UI"/>
                <a:cs typeface="Segoe UI"/>
              </a:defRPr>
            </a:lvl8pPr>
            <a:lvl9pPr algn="l">
              <a:defRPr sz="7800">
                <a:solidFill>
                  <a:srgbClr val="173F35"/>
                </a:solidFill>
                <a:latin typeface="Segoe UI"/>
                <a:ea typeface="Segoe UI"/>
                <a:cs typeface="Segoe UI"/>
              </a:defRPr>
            </a:lvl9pPr>
          </a:lstStyle>
          <a:p>
            <a:pPr algn="l">
              <a:lnSpc>
                <a:spcPts val="9505"/>
              </a:lnSpc>
              <a:buNone/>
            </a:pPr>
            <a:r>
              <a:rPr sz="7800" b="0">
                <a:solidFill>
                  <a:srgbClr val="173F35"/>
                </a:solidFill>
                <a:latin typeface="Segoe UI"/>
                <a:ea typeface="Segoe UI"/>
                <a:cs typeface="Segoe UI"/>
              </a:rPr>
              <a:t>Career Paths</a:t>
            </a:r>
          </a:p>
          <a:p>
            <a:pPr algn="l">
              <a:lnSpc>
                <a:spcPts val="9505"/>
              </a:lnSpc>
              <a:buNone/>
            </a:pPr>
            <a:r>
              <a:rPr sz="7800" b="0">
                <a:solidFill>
                  <a:srgbClr val="173F35"/>
                </a:solidFill>
                <a:latin typeface="Segoe UI"/>
                <a:ea typeface="Segoe UI"/>
                <a:cs typeface="Segoe UI"/>
              </a:rPr>
              <a:t>in an AI Era</a:t>
            </a:r>
          </a:p>
        </p:txBody>
      </p:sp>
      <p:sp>
        <p:nvSpPr>
          <p:cNvPr id="12" name="TextBox 12"/>
          <p:cNvSpPr>
            <a:spLocks noGrp="1"/>
          </p:cNvSpPr>
          <p:nvPr/>
        </p:nvSpPr>
        <p:spPr>
          <a:xfrm>
            <a:off x="908485" y="1162023"/>
            <a:ext cx="3734215" cy="539750"/>
          </a:xfrm>
          <a:prstGeom prst="rect">
            <a:avLst/>
          </a:prstGeom>
        </p:spPr>
        <p:txBody>
          <a:bodyPr lIns="0" tIns="0" rIns="0" bIns="0" anchor="t">
            <a:spAutoFit/>
          </a:bodyPr>
          <a:lstStyle>
            <a:defPPr algn="l">
              <a:defRPr sz="3035">
                <a:solidFill>
                  <a:srgbClr val="2D6B57"/>
                </a:solidFill>
                <a:latin typeface="Segoe UI"/>
                <a:ea typeface="Segoe UI"/>
                <a:cs typeface="Segoe UI"/>
              </a:defRPr>
            </a:defPPr>
            <a:lvl1pPr algn="l">
              <a:defRPr sz="3035">
                <a:solidFill>
                  <a:srgbClr val="2D6B57"/>
                </a:solidFill>
                <a:latin typeface="Segoe UI"/>
                <a:ea typeface="Segoe UI"/>
                <a:cs typeface="Segoe UI"/>
              </a:defRPr>
            </a:lvl1pPr>
            <a:lvl2pPr algn="l">
              <a:defRPr sz="3035">
                <a:solidFill>
                  <a:srgbClr val="2D6B57"/>
                </a:solidFill>
                <a:latin typeface="Segoe UI"/>
                <a:ea typeface="Segoe UI"/>
                <a:cs typeface="Segoe UI"/>
              </a:defRPr>
            </a:lvl2pPr>
            <a:lvl3pPr algn="l">
              <a:defRPr sz="3035">
                <a:solidFill>
                  <a:srgbClr val="2D6B57"/>
                </a:solidFill>
                <a:latin typeface="Segoe UI"/>
                <a:ea typeface="Segoe UI"/>
                <a:cs typeface="Segoe UI"/>
              </a:defRPr>
            </a:lvl3pPr>
            <a:lvl4pPr algn="l">
              <a:defRPr sz="3035">
                <a:solidFill>
                  <a:srgbClr val="2D6B57"/>
                </a:solidFill>
                <a:latin typeface="Segoe UI"/>
                <a:ea typeface="Segoe UI"/>
                <a:cs typeface="Segoe UI"/>
              </a:defRPr>
            </a:lvl4pPr>
            <a:lvl5pPr algn="l">
              <a:defRPr sz="3035">
                <a:solidFill>
                  <a:srgbClr val="2D6B57"/>
                </a:solidFill>
                <a:latin typeface="Segoe UI"/>
                <a:ea typeface="Segoe UI"/>
                <a:cs typeface="Segoe UI"/>
              </a:defRPr>
            </a:lvl5pPr>
            <a:lvl6pPr algn="l">
              <a:defRPr sz="3035">
                <a:solidFill>
                  <a:srgbClr val="2D6B57"/>
                </a:solidFill>
                <a:latin typeface="Segoe UI"/>
                <a:ea typeface="Segoe UI"/>
                <a:cs typeface="Segoe UI"/>
              </a:defRPr>
            </a:lvl6pPr>
            <a:lvl7pPr algn="l">
              <a:defRPr sz="3035">
                <a:solidFill>
                  <a:srgbClr val="2D6B57"/>
                </a:solidFill>
                <a:latin typeface="Segoe UI"/>
                <a:ea typeface="Segoe UI"/>
                <a:cs typeface="Segoe UI"/>
              </a:defRPr>
            </a:lvl7pPr>
            <a:lvl8pPr algn="l">
              <a:defRPr sz="3035">
                <a:solidFill>
                  <a:srgbClr val="2D6B57"/>
                </a:solidFill>
                <a:latin typeface="Segoe UI"/>
                <a:ea typeface="Segoe UI"/>
                <a:cs typeface="Segoe UI"/>
              </a:defRPr>
            </a:lvl8pPr>
            <a:lvl9pPr algn="l">
              <a:defRPr sz="3035">
                <a:solidFill>
                  <a:srgbClr val="2D6B57"/>
                </a:solidFill>
                <a:latin typeface="Segoe UI"/>
                <a:ea typeface="Segoe UI"/>
                <a:cs typeface="Segoe UI"/>
              </a:defRPr>
            </a:lvl9pPr>
          </a:lstStyle>
          <a:p>
            <a:pPr algn="l">
              <a:lnSpc>
                <a:spcPts val="4250"/>
              </a:lnSpc>
              <a:buNone/>
              <a:defRPr sz="3035">
                <a:solidFill>
                  <a:srgbClr val="2D6B57"/>
                </a:solidFill>
                <a:latin typeface="Segoe UI"/>
                <a:ea typeface="Segoe UI"/>
                <a:cs typeface="Segoe UI"/>
              </a:defRPr>
            </a:pPr>
            <a:r>
              <a:rPr sz="3035">
                <a:solidFill>
                  <a:srgbClr val="2D6B57"/>
                </a:solidFill>
                <a:latin typeface="Segoe UI"/>
                <a:ea typeface="Segoe UI"/>
                <a:cs typeface="Segoe UI"/>
              </a:rPr>
              <a:t>AI CAREER NAVIGATOR</a:t>
            </a:r>
            <a:endParaRPr sz="3035">
              <a:solidFill>
                <a:srgbClr val="2D6B57"/>
              </a:solidFill>
              <a:latin typeface="Segoe UI"/>
              <a:ea typeface="Segoe UI"/>
              <a:cs typeface="Segoe UI"/>
            </a:endParaRPr>
          </a:p>
        </p:txBody>
      </p:sp>
      <p:sp>
        <p:nvSpPr>
          <p:cNvPr id="13" name="TextBox 13"/>
          <p:cNvSpPr>
            <a:spLocks noGrp="1"/>
          </p:cNvSpPr>
          <p:nvPr/>
        </p:nvSpPr>
        <p:spPr>
          <a:xfrm>
            <a:off x="2364628" y="5464653"/>
            <a:ext cx="8251153" cy="748030"/>
          </a:xfrm>
          <a:prstGeom prst="rect">
            <a:avLst/>
          </a:prstGeom>
        </p:spPr>
        <p:txBody>
          <a:bodyPr lIns="0" tIns="0" rIns="0" bIns="0" anchor="ctr"/>
          <a:lstStyle>
            <a:defPPr algn="l">
              <a:defRPr sz="2100">
                <a:solidFill>
                  <a:srgbClr val="173F35"/>
                </a:solidFill>
                <a:latin typeface="Segoe UI"/>
                <a:ea typeface="Segoe UI"/>
                <a:cs typeface="Segoe UI"/>
              </a:defRPr>
            </a:defPPr>
            <a:lvl1pPr algn="l">
              <a:defRPr sz="2100">
                <a:solidFill>
                  <a:srgbClr val="173F35"/>
                </a:solidFill>
                <a:latin typeface="Segoe UI"/>
                <a:ea typeface="Segoe UI"/>
                <a:cs typeface="Segoe UI"/>
              </a:defRPr>
            </a:lvl1pPr>
            <a:lvl2pPr algn="l">
              <a:defRPr sz="2100">
                <a:solidFill>
                  <a:srgbClr val="173F35"/>
                </a:solidFill>
                <a:latin typeface="Segoe UI"/>
                <a:ea typeface="Segoe UI"/>
                <a:cs typeface="Segoe UI"/>
              </a:defRPr>
            </a:lvl2pPr>
            <a:lvl3pPr algn="l">
              <a:defRPr sz="2100">
                <a:solidFill>
                  <a:srgbClr val="173F35"/>
                </a:solidFill>
                <a:latin typeface="Segoe UI"/>
                <a:ea typeface="Segoe UI"/>
                <a:cs typeface="Segoe UI"/>
              </a:defRPr>
            </a:lvl3pPr>
            <a:lvl4pPr algn="l">
              <a:defRPr sz="2100">
                <a:solidFill>
                  <a:srgbClr val="173F35"/>
                </a:solidFill>
                <a:latin typeface="Segoe UI"/>
                <a:ea typeface="Segoe UI"/>
                <a:cs typeface="Segoe UI"/>
              </a:defRPr>
            </a:lvl4pPr>
            <a:lvl5pPr algn="l">
              <a:defRPr sz="2100">
                <a:solidFill>
                  <a:srgbClr val="173F35"/>
                </a:solidFill>
                <a:latin typeface="Segoe UI"/>
                <a:ea typeface="Segoe UI"/>
                <a:cs typeface="Segoe UI"/>
              </a:defRPr>
            </a:lvl5pPr>
            <a:lvl6pPr algn="l">
              <a:defRPr sz="2100">
                <a:solidFill>
                  <a:srgbClr val="173F35"/>
                </a:solidFill>
                <a:latin typeface="Segoe UI"/>
                <a:ea typeface="Segoe UI"/>
                <a:cs typeface="Segoe UI"/>
              </a:defRPr>
            </a:lvl6pPr>
            <a:lvl7pPr algn="l">
              <a:defRPr sz="2100">
                <a:solidFill>
                  <a:srgbClr val="173F35"/>
                </a:solidFill>
                <a:latin typeface="Segoe UI"/>
                <a:ea typeface="Segoe UI"/>
                <a:cs typeface="Segoe UI"/>
              </a:defRPr>
            </a:lvl7pPr>
            <a:lvl8pPr algn="l">
              <a:defRPr sz="2100">
                <a:solidFill>
                  <a:srgbClr val="173F35"/>
                </a:solidFill>
                <a:latin typeface="Segoe UI"/>
                <a:ea typeface="Segoe UI"/>
                <a:cs typeface="Segoe UI"/>
              </a:defRPr>
            </a:lvl8pPr>
            <a:lvl9pPr algn="l">
              <a:defRPr sz="2100">
                <a:solidFill>
                  <a:srgbClr val="173F35"/>
                </a:solidFill>
                <a:latin typeface="Segoe UI"/>
                <a:ea typeface="Segoe UI"/>
                <a:cs typeface="Segoe UI"/>
              </a:defRPr>
            </a:lvl9pPr>
          </a:lstStyle>
          <a:p>
            <a:pPr algn="l">
              <a:lnSpc>
                <a:spcPts val="2945"/>
              </a:lnSpc>
              <a:buNone/>
            </a:pPr>
            <a:r>
              <a:rPr sz="2050" b="0">
                <a:solidFill>
                  <a:srgbClr val="173F35"/>
                </a:solidFill>
                <a:latin typeface="Segoe UI"/>
                <a:ea typeface="Segoe UI"/>
                <a:cs typeface="Segoe UI"/>
              </a:rPr>
              <a:t>The 2026 job market wants AI-adjacent capability inside roles that never asked for it. Careers advice still starts from job titles instead of from what a person can actually do — so the distance between a learner’s strengths and the market stays invisible.</a:t>
            </a:r>
          </a:p>
        </p:txBody>
      </p:sp>
      <p:sp>
        <p:nvSpPr>
          <p:cNvPr id="14" name="TextBox 14"/>
          <p:cNvSpPr>
            <a:spLocks noGrp="1"/>
          </p:cNvSpPr>
          <p:nvPr/>
        </p:nvSpPr>
        <p:spPr>
          <a:xfrm>
            <a:off x="2364628" y="7582947"/>
            <a:ext cx="8251153" cy="1122045"/>
          </a:xfrm>
          <a:prstGeom prst="rect">
            <a:avLst/>
          </a:prstGeom>
        </p:spPr>
        <p:txBody>
          <a:bodyPr lIns="0" tIns="0" rIns="0" bIns="0" anchor="ctr"/>
          <a:lstStyle>
            <a:defPPr algn="l">
              <a:defRPr sz="1950">
                <a:solidFill>
                  <a:srgbClr val="2D6B57"/>
                </a:solidFill>
                <a:latin typeface="Segoe UI"/>
                <a:ea typeface="Segoe UI"/>
                <a:cs typeface="Segoe UI"/>
              </a:defRPr>
            </a:defPPr>
            <a:lvl1pPr algn="l">
              <a:defRPr sz="1950">
                <a:solidFill>
                  <a:srgbClr val="2D6B57"/>
                </a:solidFill>
                <a:latin typeface="Segoe UI"/>
                <a:ea typeface="Segoe UI"/>
                <a:cs typeface="Segoe UI"/>
              </a:defRPr>
            </a:lvl1pPr>
            <a:lvl2pPr algn="l">
              <a:defRPr sz="1950">
                <a:solidFill>
                  <a:srgbClr val="2D6B57"/>
                </a:solidFill>
                <a:latin typeface="Segoe UI"/>
                <a:ea typeface="Segoe UI"/>
                <a:cs typeface="Segoe UI"/>
              </a:defRPr>
            </a:lvl2pPr>
            <a:lvl3pPr algn="l">
              <a:defRPr sz="1950">
                <a:solidFill>
                  <a:srgbClr val="2D6B57"/>
                </a:solidFill>
                <a:latin typeface="Segoe UI"/>
                <a:ea typeface="Segoe UI"/>
                <a:cs typeface="Segoe UI"/>
              </a:defRPr>
            </a:lvl3pPr>
            <a:lvl4pPr algn="l">
              <a:defRPr sz="1950">
                <a:solidFill>
                  <a:srgbClr val="2D6B57"/>
                </a:solidFill>
                <a:latin typeface="Segoe UI"/>
                <a:ea typeface="Segoe UI"/>
                <a:cs typeface="Segoe UI"/>
              </a:defRPr>
            </a:lvl4pPr>
            <a:lvl5pPr algn="l">
              <a:defRPr sz="1950">
                <a:solidFill>
                  <a:srgbClr val="2D6B57"/>
                </a:solidFill>
                <a:latin typeface="Segoe UI"/>
                <a:ea typeface="Segoe UI"/>
                <a:cs typeface="Segoe UI"/>
              </a:defRPr>
            </a:lvl5pPr>
            <a:lvl6pPr algn="l">
              <a:defRPr sz="1950">
                <a:solidFill>
                  <a:srgbClr val="2D6B57"/>
                </a:solidFill>
                <a:latin typeface="Segoe UI"/>
                <a:ea typeface="Segoe UI"/>
                <a:cs typeface="Segoe UI"/>
              </a:defRPr>
            </a:lvl6pPr>
            <a:lvl7pPr algn="l">
              <a:defRPr sz="1950">
                <a:solidFill>
                  <a:srgbClr val="2D6B57"/>
                </a:solidFill>
                <a:latin typeface="Segoe UI"/>
                <a:ea typeface="Segoe UI"/>
                <a:cs typeface="Segoe UI"/>
              </a:defRPr>
            </a:lvl7pPr>
            <a:lvl8pPr algn="l">
              <a:defRPr sz="1950">
                <a:solidFill>
                  <a:srgbClr val="2D6B57"/>
                </a:solidFill>
                <a:latin typeface="Segoe UI"/>
                <a:ea typeface="Segoe UI"/>
                <a:cs typeface="Segoe UI"/>
              </a:defRPr>
            </a:lvl8pPr>
            <a:lvl9pPr algn="l">
              <a:defRPr sz="1950">
                <a:solidFill>
                  <a:srgbClr val="2D6B57"/>
                </a:solidFill>
                <a:latin typeface="Segoe UI"/>
                <a:ea typeface="Segoe UI"/>
                <a:cs typeface="Segoe UI"/>
              </a:defRPr>
            </a:lvl9pPr>
          </a:lstStyle>
          <a:p>
            <a:pPr algn="l">
              <a:lnSpc>
                <a:spcPts val="2945"/>
              </a:lnSpc>
              <a:buNone/>
            </a:pPr>
            <a:r>
              <a:rPr sz="1750" b="0">
                <a:solidFill>
                  <a:srgbClr val="2D6B57"/>
                </a:solidFill>
                <a:latin typeface="Segoe UI"/>
                <a:ea typeface="Segoe UI"/>
                <a:cs typeface="Segoe UI"/>
              </a:rPr>
              <a:t>Career Construction Theory — careers are built, not assigned</a:t>
            </a:r>
          </a:p>
          <a:p>
            <a:pPr algn="l">
              <a:lnSpc>
                <a:spcPts val="2945"/>
              </a:lnSpc>
              <a:buNone/>
            </a:pPr>
            <a:r>
              <a:rPr sz="1750" b="0">
                <a:solidFill>
                  <a:srgbClr val="2D6B57"/>
                </a:solidFill>
                <a:latin typeface="Segoe UI"/>
                <a:ea typeface="Segoe UI"/>
                <a:cs typeface="Segoe UI"/>
              </a:rPr>
              <a:t>Social Cognitive Career Theory — belief decides what we try</a:t>
            </a:r>
          </a:p>
          <a:p>
            <a:pPr algn="l">
              <a:lnSpc>
                <a:spcPts val="2945"/>
              </a:lnSpc>
              <a:buNone/>
            </a:pPr>
            <a:r>
              <a:rPr sz="1750" b="0">
                <a:solidFill>
                  <a:srgbClr val="2D6B57"/>
                </a:solidFill>
                <a:latin typeface="Segoe UI"/>
                <a:ea typeface="Segoe UI"/>
                <a:cs typeface="Segoe UI"/>
              </a:rPr>
              <a:t>Information Asymmetry — the market hides what it wants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rot="-9232430">
            <a:off x="-2208788" y="6033659"/>
            <a:ext cx="6234545" cy="4114800"/>
          </a:xfrm>
          <a:custGeom>
            <a:avLst/>
            <a:gdLst/>
            <a:ahLst/>
            <a:cxnLst/>
            <a:rect l="l" t="t" r="r" b="b"/>
            <a:pathLst>
              <a:path w="6234545" h="4114800">
                <a:moveTo>
                  <a:pt x="0" y="0"/>
                </a:moveTo>
                <a:lnTo>
                  <a:pt x="6234545" y="0"/>
                </a:lnTo>
                <a:lnTo>
                  <a:pt x="6234545"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a:spLocks noGrp="1"/>
          </p:cNvSpPr>
          <p:nvPr/>
        </p:nvSpPr>
        <p:spPr>
          <a:xfrm>
            <a:off x="9295269" y="3121273"/>
            <a:ext cx="8032098" cy="2764491"/>
          </a:xfrm>
          <a:custGeom>
            <a:avLst/>
            <a:gdLst/>
            <a:ahLst/>
            <a:cxnLst/>
            <a:rect l="l" t="t" r="r" b="b"/>
            <a:pathLst>
              <a:path w="2005386" h="690215">
                <a:moveTo>
                  <a:pt x="49158" y="0"/>
                </a:moveTo>
                <a:lnTo>
                  <a:pt x="1956229" y="0"/>
                </a:lnTo>
                <a:cubicBezTo>
                  <a:pt x="1983378" y="0"/>
                  <a:pt x="2005386" y="22009"/>
                  <a:pt x="2005386" y="49158"/>
                </a:cubicBezTo>
                <a:lnTo>
                  <a:pt x="2005386" y="641057"/>
                </a:lnTo>
                <a:cubicBezTo>
                  <a:pt x="2005386" y="668206"/>
                  <a:pt x="1983378" y="690215"/>
                  <a:pt x="1956229" y="690215"/>
                </a:cubicBezTo>
                <a:lnTo>
                  <a:pt x="49158" y="690215"/>
                </a:lnTo>
                <a:cubicBezTo>
                  <a:pt x="22009" y="690215"/>
                  <a:pt x="0" y="668206"/>
                  <a:pt x="0" y="641057"/>
                </a:cubicBezTo>
                <a:lnTo>
                  <a:pt x="0" y="49158"/>
                </a:lnTo>
                <a:cubicBezTo>
                  <a:pt x="0" y="22009"/>
                  <a:pt x="22009" y="0"/>
                  <a:pt x="49158" y="0"/>
                </a:cubicBezTo>
                <a:close/>
              </a:path>
            </a:pathLst>
          </a:custGeom>
          <a:solidFill>
            <a:srgbClr val="E3F0D8"/>
          </a:solidFill>
        </p:spPr>
        <p:txBody>
          <a:bodyPr/>
          <a:p>
            <a:endParaRPr lang="zh-CN" altLang="en-US"/>
          </a:p>
        </p:txBody>
      </p:sp>
      <p:sp>
        <p:nvSpPr>
          <p:cNvPr id="5" name="TextBox 5"/>
          <p:cNvSpPr>
            <a:spLocks noGrp="1"/>
          </p:cNvSpPr>
          <p:nvPr/>
        </p:nvSpPr>
        <p:spPr>
          <a:xfrm>
            <a:off x="9295269" y="2608628"/>
            <a:ext cx="8032098" cy="2917091"/>
          </a:xfrm>
          <a:prstGeom prst="rect">
            <a:avLst/>
          </a:prstGeom>
        </p:spPr>
        <p:txBody>
          <a:bodyPr lIns="50800" tIns="50800" rIns="50800" bIns="50800" anchor="ctr"/>
          <a:lstStyle/>
          <a:p>
            <a:pPr algn="ctr">
              <a:lnSpc>
                <a:spcPts val="2660"/>
              </a:lnSpc>
              <a:buNone/>
            </a:pPr>
          </a:p>
        </p:txBody>
      </p:sp>
      <p:sp>
        <p:nvSpPr>
          <p:cNvPr id="6" name="Freeform 6"/>
          <p:cNvSpPr>
            <a:spLocks noGrp="1"/>
          </p:cNvSpPr>
          <p:nvPr/>
        </p:nvSpPr>
        <p:spPr>
          <a:xfrm>
            <a:off x="8734656" y="3404166"/>
            <a:ext cx="1266937" cy="1250813"/>
          </a:xfrm>
          <a:custGeom>
            <a:avLst/>
            <a:gdLst/>
            <a:ahLst/>
            <a:cxnLst/>
            <a:rect l="l" t="t" r="r" b="b"/>
            <a:pathLst>
              <a:path w="1266937" h="1250813">
                <a:moveTo>
                  <a:pt x="0" y="0"/>
                </a:moveTo>
                <a:lnTo>
                  <a:pt x="1266937" y="0"/>
                </a:lnTo>
                <a:lnTo>
                  <a:pt x="1266937" y="1250812"/>
                </a:lnTo>
                <a:lnTo>
                  <a:pt x="0" y="1250812"/>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rnd">
            <a:noFill/>
            <a:prstDash val="solid"/>
            <a:round/>
          </a:ln>
        </p:spPr>
        <p:txBody>
          <a:bodyPr/>
          <a:p>
            <a:endParaRPr lang="zh-CN" altLang="en-US"/>
          </a:p>
        </p:txBody>
      </p:sp>
      <p:sp>
        <p:nvSpPr>
          <p:cNvPr id="7" name="Freeform 7"/>
          <p:cNvSpPr>
            <a:spLocks noGrp="1"/>
          </p:cNvSpPr>
          <p:nvPr/>
        </p:nvSpPr>
        <p:spPr>
          <a:xfrm rot="-2017032">
            <a:off x="17133199" y="8912557"/>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a:spLocks noGrp="1"/>
          </p:cNvSpPr>
          <p:nvPr/>
        </p:nvSpPr>
        <p:spPr>
          <a:xfrm rot="-2017032">
            <a:off x="9896831" y="749581"/>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a:spLocks noGrp="1"/>
          </p:cNvSpPr>
          <p:nvPr/>
        </p:nvSpPr>
        <p:spPr>
          <a:xfrm rot="-9232430">
            <a:off x="14167163" y="-648424"/>
            <a:ext cx="4787664" cy="3159858"/>
          </a:xfrm>
          <a:custGeom>
            <a:avLst/>
            <a:gdLst/>
            <a:ahLst/>
            <a:cxnLst/>
            <a:rect l="l" t="t" r="r" b="b"/>
            <a:pathLst>
              <a:path w="4787664" h="3159858">
                <a:moveTo>
                  <a:pt x="0" y="0"/>
                </a:moveTo>
                <a:lnTo>
                  <a:pt x="4787664" y="0"/>
                </a:lnTo>
                <a:lnTo>
                  <a:pt x="4787664" y="3159859"/>
                </a:lnTo>
                <a:lnTo>
                  <a:pt x="0" y="315985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Freeform 11"/>
          <p:cNvSpPr>
            <a:spLocks noGrp="1"/>
          </p:cNvSpPr>
          <p:nvPr/>
        </p:nvSpPr>
        <p:spPr>
          <a:xfrm>
            <a:off x="9295269" y="6123880"/>
            <a:ext cx="8032098" cy="2764491"/>
          </a:xfrm>
          <a:custGeom>
            <a:avLst/>
            <a:gdLst/>
            <a:ahLst/>
            <a:cxnLst/>
            <a:rect l="l" t="t" r="r" b="b"/>
            <a:pathLst>
              <a:path w="2005386" h="690215">
                <a:moveTo>
                  <a:pt x="49158" y="0"/>
                </a:moveTo>
                <a:lnTo>
                  <a:pt x="1956229" y="0"/>
                </a:lnTo>
                <a:cubicBezTo>
                  <a:pt x="1983378" y="0"/>
                  <a:pt x="2005386" y="22009"/>
                  <a:pt x="2005386" y="49158"/>
                </a:cubicBezTo>
                <a:lnTo>
                  <a:pt x="2005386" y="641057"/>
                </a:lnTo>
                <a:cubicBezTo>
                  <a:pt x="2005386" y="668206"/>
                  <a:pt x="1983378" y="690215"/>
                  <a:pt x="1956229" y="690215"/>
                </a:cubicBezTo>
                <a:lnTo>
                  <a:pt x="49158" y="690215"/>
                </a:lnTo>
                <a:cubicBezTo>
                  <a:pt x="22009" y="690215"/>
                  <a:pt x="0" y="668206"/>
                  <a:pt x="0" y="641057"/>
                </a:cubicBezTo>
                <a:lnTo>
                  <a:pt x="0" y="49158"/>
                </a:lnTo>
                <a:cubicBezTo>
                  <a:pt x="0" y="22009"/>
                  <a:pt x="22009" y="0"/>
                  <a:pt x="49158" y="0"/>
                </a:cubicBezTo>
                <a:close/>
              </a:path>
            </a:pathLst>
          </a:custGeom>
          <a:solidFill>
            <a:srgbClr val="E3F0D8"/>
          </a:solidFill>
        </p:spPr>
      </p:sp>
      <p:sp>
        <p:nvSpPr>
          <p:cNvPr id="12" name="TextBox 12"/>
          <p:cNvSpPr>
            <a:spLocks noGrp="1"/>
          </p:cNvSpPr>
          <p:nvPr/>
        </p:nvSpPr>
        <p:spPr>
          <a:xfrm>
            <a:off x="9295269" y="5885555"/>
            <a:ext cx="8032098" cy="2917091"/>
          </a:xfrm>
          <a:prstGeom prst="rect">
            <a:avLst/>
          </a:prstGeom>
        </p:spPr>
        <p:txBody>
          <a:bodyPr lIns="50800" tIns="50800" rIns="50800" bIns="50800" anchor="ctr"/>
          <a:lstStyle/>
          <a:p>
            <a:pPr algn="ctr">
              <a:lnSpc>
                <a:spcPts val="2660"/>
              </a:lnSpc>
              <a:buNone/>
            </a:pPr>
            <a:endParaRPr sz="2800">
              <a:solidFill>
                <a:srgbClr val="173F35"/>
              </a:solidFill>
              <a:latin typeface="Segoe UI"/>
              <a:ea typeface="Segoe UI"/>
              <a:cs typeface="Segoe UI"/>
            </a:endParaRPr>
          </a:p>
        </p:txBody>
      </p:sp>
      <p:sp>
        <p:nvSpPr>
          <p:cNvPr id="13" name="Freeform 13"/>
          <p:cNvSpPr>
            <a:spLocks noGrp="1"/>
          </p:cNvSpPr>
          <p:nvPr/>
        </p:nvSpPr>
        <p:spPr>
          <a:xfrm>
            <a:off x="8734656" y="6681093"/>
            <a:ext cx="1266937" cy="1250813"/>
          </a:xfrm>
          <a:custGeom>
            <a:avLst/>
            <a:gdLst/>
            <a:ahLst/>
            <a:cxnLst/>
            <a:rect l="l" t="t" r="r" b="b"/>
            <a:pathLst>
              <a:path w="1266937" h="1250813">
                <a:moveTo>
                  <a:pt x="0" y="0"/>
                </a:moveTo>
                <a:lnTo>
                  <a:pt x="1266937" y="0"/>
                </a:lnTo>
                <a:lnTo>
                  <a:pt x="1266937" y="1250812"/>
                </a:lnTo>
                <a:lnTo>
                  <a:pt x="0" y="1250812"/>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rnd">
            <a:noFill/>
            <a:prstDash val="solid"/>
            <a:round/>
          </a:ln>
        </p:spPr>
      </p:sp>
      <p:sp>
        <p:nvSpPr>
          <p:cNvPr id="14" name="Freeform 14"/>
          <p:cNvSpPr>
            <a:spLocks noGrp="1"/>
          </p:cNvSpPr>
          <p:nvPr/>
        </p:nvSpPr>
        <p:spPr>
          <a:xfrm flipH="1">
            <a:off x="1447627" y="1867108"/>
            <a:ext cx="5472684" cy="8229600"/>
          </a:xfrm>
          <a:custGeom>
            <a:avLst/>
            <a:gdLst/>
            <a:ahLst/>
            <a:cxnLst/>
            <a:rect l="l" t="t" r="r" b="b"/>
            <a:pathLst>
              <a:path w="5472684" h="8229600">
                <a:moveTo>
                  <a:pt x="5472684" y="0"/>
                </a:moveTo>
                <a:lnTo>
                  <a:pt x="0" y="0"/>
                </a:lnTo>
                <a:lnTo>
                  <a:pt x="0" y="8229600"/>
                </a:lnTo>
                <a:lnTo>
                  <a:pt x="5472684" y="8229600"/>
                </a:lnTo>
                <a:lnTo>
                  <a:pt x="5472684" y="0"/>
                </a:lnTo>
                <a:close/>
              </a:path>
            </a:pathLst>
          </a:custGeom>
          <a:blipFill>
            <a:blip r:embed="rId7"/>
            <a:stretch>
              <a:fillRect/>
            </a:stretch>
          </a:blipFill>
        </p:spPr>
      </p:sp>
      <p:sp>
        <p:nvSpPr>
          <p:cNvPr id="15" name="TextBox 15"/>
          <p:cNvSpPr>
            <a:spLocks noGrp="1"/>
          </p:cNvSpPr>
          <p:nvPr/>
        </p:nvSpPr>
        <p:spPr>
          <a:xfrm>
            <a:off x="2895628" y="246279"/>
            <a:ext cx="7942514" cy="1207135"/>
          </a:xfrm>
          <a:prstGeom prst="rect">
            <a:avLst/>
          </a:prstGeom>
        </p:spPr>
        <p:txBody>
          <a:bodyPr lIns="0" tIns="0" rIns="0" bIns="0" anchor="ctr"/>
          <a:lstStyle>
            <a:defPPr algn="l">
              <a:defRPr sz="10950">
                <a:solidFill>
                  <a:srgbClr val="173F35"/>
                </a:solidFill>
                <a:latin typeface="Segoe UI"/>
                <a:ea typeface="Segoe UI"/>
                <a:cs typeface="Segoe UI"/>
              </a:defRPr>
            </a:defPPr>
            <a:lvl1pPr algn="l">
              <a:defRPr sz="10950">
                <a:solidFill>
                  <a:srgbClr val="173F35"/>
                </a:solidFill>
                <a:latin typeface="Segoe UI"/>
                <a:ea typeface="Segoe UI"/>
                <a:cs typeface="Segoe UI"/>
              </a:defRPr>
            </a:lvl1pPr>
            <a:lvl2pPr algn="l">
              <a:defRPr sz="10950">
                <a:solidFill>
                  <a:srgbClr val="173F35"/>
                </a:solidFill>
                <a:latin typeface="Segoe UI"/>
                <a:ea typeface="Segoe UI"/>
                <a:cs typeface="Segoe UI"/>
              </a:defRPr>
            </a:lvl2pPr>
            <a:lvl3pPr algn="l">
              <a:defRPr sz="10950">
                <a:solidFill>
                  <a:srgbClr val="173F35"/>
                </a:solidFill>
                <a:latin typeface="Segoe UI"/>
                <a:ea typeface="Segoe UI"/>
                <a:cs typeface="Segoe UI"/>
              </a:defRPr>
            </a:lvl3pPr>
            <a:lvl4pPr algn="l">
              <a:defRPr sz="10950">
                <a:solidFill>
                  <a:srgbClr val="173F35"/>
                </a:solidFill>
                <a:latin typeface="Segoe UI"/>
                <a:ea typeface="Segoe UI"/>
                <a:cs typeface="Segoe UI"/>
              </a:defRPr>
            </a:lvl4pPr>
            <a:lvl5pPr algn="l">
              <a:defRPr sz="10950">
                <a:solidFill>
                  <a:srgbClr val="173F35"/>
                </a:solidFill>
                <a:latin typeface="Segoe UI"/>
                <a:ea typeface="Segoe UI"/>
                <a:cs typeface="Segoe UI"/>
              </a:defRPr>
            </a:lvl5pPr>
            <a:lvl6pPr algn="l">
              <a:defRPr sz="10950">
                <a:solidFill>
                  <a:srgbClr val="173F35"/>
                </a:solidFill>
                <a:latin typeface="Segoe UI"/>
                <a:ea typeface="Segoe UI"/>
                <a:cs typeface="Segoe UI"/>
              </a:defRPr>
            </a:lvl6pPr>
            <a:lvl7pPr algn="l">
              <a:defRPr sz="10950">
                <a:solidFill>
                  <a:srgbClr val="173F35"/>
                </a:solidFill>
                <a:latin typeface="Segoe UI"/>
                <a:ea typeface="Segoe UI"/>
                <a:cs typeface="Segoe UI"/>
              </a:defRPr>
            </a:lvl7pPr>
            <a:lvl8pPr algn="l">
              <a:defRPr sz="10950">
                <a:solidFill>
                  <a:srgbClr val="173F35"/>
                </a:solidFill>
                <a:latin typeface="Segoe UI"/>
                <a:ea typeface="Segoe UI"/>
                <a:cs typeface="Segoe UI"/>
              </a:defRPr>
            </a:lvl8pPr>
            <a:lvl9pPr algn="l">
              <a:defRPr sz="10950">
                <a:solidFill>
                  <a:srgbClr val="173F35"/>
                </a:solidFill>
                <a:latin typeface="Segoe UI"/>
                <a:ea typeface="Segoe UI"/>
                <a:cs typeface="Segoe UI"/>
              </a:defRPr>
            </a:lvl9pPr>
          </a:lstStyle>
          <a:p>
            <a:pPr algn="l">
              <a:lnSpc>
                <a:spcPts val="9505"/>
              </a:lnSpc>
              <a:buNone/>
            </a:pPr>
            <a:r>
              <a:rPr sz="10950" b="0">
                <a:solidFill>
                  <a:srgbClr val="173F35"/>
                </a:solidFill>
                <a:latin typeface="Segoe UI"/>
                <a:ea typeface="Segoe UI"/>
                <a:cs typeface="Segoe UI"/>
              </a:rPr>
              <a:t>Meet Aina</a:t>
            </a:r>
          </a:p>
        </p:txBody>
      </p:sp>
      <p:sp>
        <p:nvSpPr>
          <p:cNvPr id="16" name="TextBox 16"/>
          <p:cNvSpPr>
            <a:spLocks noGrp="1"/>
          </p:cNvSpPr>
          <p:nvPr/>
        </p:nvSpPr>
        <p:spPr>
          <a:xfrm>
            <a:off x="380800" y="266673"/>
            <a:ext cx="3734215" cy="1089660"/>
          </a:xfrm>
          <a:prstGeom prst="rect">
            <a:avLst/>
          </a:prstGeom>
        </p:spPr>
        <p:txBody>
          <a:bodyPr wrap="square" lIns="0" tIns="0" rIns="0" bIns="0" anchor="t">
            <a:spAutoFit/>
          </a:bodyPr>
          <a:lstStyle>
            <a:defPPr algn="l">
              <a:defRPr sz="3035">
                <a:solidFill>
                  <a:srgbClr val="2D6B57"/>
                </a:solidFill>
                <a:latin typeface="Segoe UI"/>
                <a:ea typeface="Segoe UI"/>
                <a:cs typeface="Segoe UI"/>
              </a:defRPr>
            </a:defPPr>
            <a:lvl1pPr algn="l">
              <a:defRPr sz="3035">
                <a:solidFill>
                  <a:srgbClr val="2D6B57"/>
                </a:solidFill>
                <a:latin typeface="Segoe UI"/>
                <a:ea typeface="Segoe UI"/>
                <a:cs typeface="Segoe UI"/>
              </a:defRPr>
            </a:lvl1pPr>
            <a:lvl2pPr algn="l">
              <a:defRPr sz="3035">
                <a:solidFill>
                  <a:srgbClr val="2D6B57"/>
                </a:solidFill>
                <a:latin typeface="Segoe UI"/>
                <a:ea typeface="Segoe UI"/>
                <a:cs typeface="Segoe UI"/>
              </a:defRPr>
            </a:lvl2pPr>
            <a:lvl3pPr algn="l">
              <a:defRPr sz="3035">
                <a:solidFill>
                  <a:srgbClr val="2D6B57"/>
                </a:solidFill>
                <a:latin typeface="Segoe UI"/>
                <a:ea typeface="Segoe UI"/>
                <a:cs typeface="Segoe UI"/>
              </a:defRPr>
            </a:lvl3pPr>
            <a:lvl4pPr algn="l">
              <a:defRPr sz="3035">
                <a:solidFill>
                  <a:srgbClr val="2D6B57"/>
                </a:solidFill>
                <a:latin typeface="Segoe UI"/>
                <a:ea typeface="Segoe UI"/>
                <a:cs typeface="Segoe UI"/>
              </a:defRPr>
            </a:lvl4pPr>
            <a:lvl5pPr algn="l">
              <a:defRPr sz="3035">
                <a:solidFill>
                  <a:srgbClr val="2D6B57"/>
                </a:solidFill>
                <a:latin typeface="Segoe UI"/>
                <a:ea typeface="Segoe UI"/>
                <a:cs typeface="Segoe UI"/>
              </a:defRPr>
            </a:lvl5pPr>
            <a:lvl6pPr algn="l">
              <a:defRPr sz="3035">
                <a:solidFill>
                  <a:srgbClr val="2D6B57"/>
                </a:solidFill>
                <a:latin typeface="Segoe UI"/>
                <a:ea typeface="Segoe UI"/>
                <a:cs typeface="Segoe UI"/>
              </a:defRPr>
            </a:lvl6pPr>
            <a:lvl7pPr algn="l">
              <a:defRPr sz="3035">
                <a:solidFill>
                  <a:srgbClr val="2D6B57"/>
                </a:solidFill>
                <a:latin typeface="Segoe UI"/>
                <a:ea typeface="Segoe UI"/>
                <a:cs typeface="Segoe UI"/>
              </a:defRPr>
            </a:lvl7pPr>
            <a:lvl8pPr algn="l">
              <a:defRPr sz="3035">
                <a:solidFill>
                  <a:srgbClr val="2D6B57"/>
                </a:solidFill>
                <a:latin typeface="Segoe UI"/>
                <a:ea typeface="Segoe UI"/>
                <a:cs typeface="Segoe UI"/>
              </a:defRPr>
            </a:lvl8pPr>
            <a:lvl9pPr algn="l">
              <a:defRPr sz="3035">
                <a:solidFill>
                  <a:srgbClr val="2D6B57"/>
                </a:solidFill>
                <a:latin typeface="Segoe UI"/>
                <a:ea typeface="Segoe UI"/>
                <a:cs typeface="Segoe UI"/>
              </a:defRPr>
            </a:lvl9pPr>
          </a:lstStyle>
          <a:p>
            <a:pPr algn="l">
              <a:lnSpc>
                <a:spcPts val="4250"/>
              </a:lnSpc>
              <a:buNone/>
              <a:defRPr sz="3035">
                <a:solidFill>
                  <a:srgbClr val="2D6B57"/>
                </a:solidFill>
                <a:latin typeface="Segoe UI"/>
                <a:ea typeface="Segoe UI"/>
                <a:cs typeface="Segoe UI"/>
              </a:defRPr>
            </a:pPr>
            <a:r>
              <a:rPr sz="3035">
                <a:solidFill>
                  <a:srgbClr val="2D6B57"/>
                </a:solidFill>
                <a:latin typeface="Segoe UI"/>
                <a:ea typeface="Segoe UI"/>
                <a:cs typeface="Segoe UI"/>
              </a:rPr>
              <a:t>AI CAREER NAVIGATOR</a:t>
            </a:r>
            <a:endParaRPr sz="3035">
              <a:solidFill>
                <a:srgbClr val="2D6B57"/>
              </a:solidFill>
              <a:latin typeface="Segoe UI"/>
              <a:ea typeface="Segoe UI"/>
              <a:cs typeface="Segoe UI"/>
            </a:endParaRPr>
          </a:p>
        </p:txBody>
      </p:sp>
      <p:sp>
        <p:nvSpPr>
          <p:cNvPr id="19" name="Freeform 19"/>
          <p:cNvSpPr>
            <a:spLocks noGrp="1"/>
          </p:cNvSpPr>
          <p:nvPr/>
        </p:nvSpPr>
        <p:spPr>
          <a:xfrm rot="-2017032">
            <a:off x="7106800" y="8334032"/>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 name="文本框 2"/>
          <p:cNvSpPr txBox="1"/>
          <p:nvPr/>
        </p:nvSpPr>
        <p:spPr>
          <a:xfrm>
            <a:off x="10001885" y="3467100"/>
            <a:ext cx="6414135" cy="1753235"/>
          </a:xfrm>
          <a:prstGeom prst="rect">
            <a:avLst/>
          </a:prstGeom>
          <a:noFill/>
        </p:spPr>
        <p:txBody>
          <a:bodyPr wrap="square" rtlCol="0" anchor="ctr"/>
          <a:p>
            <a:pPr>
              <a:buNone/>
            </a:pPr>
            <a:r>
              <a:rPr lang="en-US" altLang="zh-CN" sz="2600" b="0">
                <a:solidFill>
                  <a:srgbClr val="111111"/>
                </a:solidFill>
                <a:latin typeface="Segoe UI"/>
                <a:ea typeface="Segoe UI"/>
                <a:cs typeface="Segoe UI"/>
              </a:rPr>
              <a:t>Renewable energy graduate</a:t>
            </a:r>
          </a:p>
          <a:p>
            <a:pPr>
              <a:buNone/>
            </a:pPr>
            <a:r>
              <a:rPr lang="en-US" altLang="zh-CN" sz="2200" b="0">
                <a:solidFill>
                  <a:srgbClr val="111111"/>
                </a:solidFill>
                <a:latin typeface="Segoe UI"/>
                <a:ea typeface="Segoe UI"/>
                <a:cs typeface="Segoe UI"/>
              </a:rPr>
              <a:t>22 · four months since graduation · no offer yet</a:t>
            </a:r>
          </a:p>
        </p:txBody>
      </p:sp>
      <p:sp>
        <p:nvSpPr>
          <p:cNvPr id="20" name="文本框 19"/>
          <p:cNvSpPr txBox="1"/>
          <p:nvPr/>
        </p:nvSpPr>
        <p:spPr>
          <a:xfrm>
            <a:off x="9982200" y="6123940"/>
            <a:ext cx="7188835" cy="3026410"/>
          </a:xfrm>
          <a:prstGeom prst="rect">
            <a:avLst/>
          </a:prstGeom>
          <a:noFill/>
        </p:spPr>
        <p:txBody>
          <a:bodyPr wrap="square" rtlCol="0" anchor="ctr"/>
          <a:p>
            <a:pPr algn="l">
              <a:lnSpc>
                <a:spcPts val="2790"/>
              </a:lnSpc>
              <a:spcBef>
                <a:spcPts val="400"/>
              </a:spcBef>
              <a:buNone/>
            </a:pPr>
            <a:r>
              <a:rPr sz="2200" b="0">
                <a:solidFill>
                  <a:srgbClr val="111111"/>
                </a:solidFill>
                <a:latin typeface="Segoe UI"/>
                <a:ea typeface="Segoe UI"/>
                <a:cs typeface="Segoe UI"/>
              </a:rPr>
              <a:t>Campus sustainability project is her proof, not her grade sheet</a:t>
            </a:r>
          </a:p>
          <a:p>
            <a:pPr algn="l">
              <a:lnSpc>
                <a:spcPts val="2790"/>
              </a:lnSpc>
              <a:spcBef>
                <a:spcPts val="400"/>
              </a:spcBef>
              <a:buNone/>
            </a:pPr>
            <a:r>
              <a:rPr sz="2200" b="0">
                <a:solidFill>
                  <a:srgbClr val="111111"/>
                </a:solidFill>
                <a:latin typeface="Segoe UI"/>
                <a:ea typeface="Segoe UI"/>
                <a:cs typeface="Segoe UI"/>
              </a:rPr>
              <a:t>Needs data analysis and energy forecasting beyond her major</a:t>
            </a:r>
          </a:p>
          <a:p>
            <a:pPr algn="l">
              <a:lnSpc>
                <a:spcPts val="2790"/>
              </a:lnSpc>
              <a:spcBef>
                <a:spcPts val="400"/>
              </a:spcBef>
              <a:buNone/>
            </a:pPr>
            <a:r>
              <a:rPr sz="2200" b="0">
                <a:solidFill>
                  <a:srgbClr val="111111"/>
                </a:solidFill>
                <a:latin typeface="Segoe UI"/>
                <a:ea typeface="Segoe UI"/>
                <a:cs typeface="Segoe UI"/>
              </a:rPr>
              <a:t>Has five hours a week and a $300 learning budget</a:t>
            </a:r>
          </a:p>
        </p:txBody>
      </p:sp>
      <p:sp>
        <p:nvSpPr>
          <p:cNvPr id="21" name="文本框 20"/>
          <p:cNvSpPr txBox="1"/>
          <p:nvPr/>
        </p:nvSpPr>
        <p:spPr>
          <a:xfrm>
            <a:off x="11658600" y="266700"/>
            <a:ext cx="5472430" cy="2861310"/>
          </a:xfrm>
          <a:prstGeom prst="rect">
            <a:avLst/>
          </a:prstGeom>
          <a:noFill/>
        </p:spPr>
        <p:txBody>
          <a:bodyPr wrap="square" rtlCol="0" anchor="ctr"/>
          <a:p>
            <a:pPr>
              <a:buNone/>
            </a:pPr>
            <a:r>
              <a:rPr lang="en-US" altLang="zh-CN" sz="2600" b="0">
                <a:solidFill>
                  <a:srgbClr val="111111"/>
                </a:solidFill>
                <a:latin typeface="Segoe UI"/>
                <a:ea typeface="Segoe UI"/>
                <a:cs typeface="Segoe UI"/>
              </a:rPr>
              <a:t>Hi, I’m Aina. Four months after graduation I still had no job in new energy — every posting asked for data analysis and energy forecasting I was never taught.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21" grpId="0"/>
      <p:bldP spid="21" grpId="1"/>
      <p:bldP spid="3" grpId="0"/>
      <p:bldP spid="3" grpId="1"/>
      <p:bldP spid="20" grpId="0"/>
      <p:bldP spid="20"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a:off x="1028700" y="5074492"/>
            <a:ext cx="922942" cy="911196"/>
          </a:xfrm>
          <a:custGeom>
            <a:avLst/>
            <a:gdLst/>
            <a:ahLst/>
            <a:cxnLst/>
            <a:rect l="l" t="t" r="r" b="b"/>
            <a:pathLst>
              <a:path w="922942" h="911196">
                <a:moveTo>
                  <a:pt x="0" y="0"/>
                </a:moveTo>
                <a:lnTo>
                  <a:pt x="922942" y="0"/>
                </a:lnTo>
                <a:lnTo>
                  <a:pt x="922942" y="911195"/>
                </a:lnTo>
                <a:lnTo>
                  <a:pt x="0" y="911195"/>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rnd">
            <a:noFill/>
            <a:prstDash val="solid"/>
            <a:round/>
          </a:ln>
        </p:spPr>
      </p:sp>
      <p:sp>
        <p:nvSpPr>
          <p:cNvPr id="4" name="Freeform 4"/>
          <p:cNvSpPr>
            <a:spLocks noGrp="1"/>
          </p:cNvSpPr>
          <p:nvPr/>
        </p:nvSpPr>
        <p:spPr>
          <a:xfrm>
            <a:off x="13512407" y="4623891"/>
            <a:ext cx="5837451" cy="583745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CD34"/>
          </a:solidFill>
        </p:spPr>
        <p:txBody>
          <a:bodyPr/>
          <a:p>
            <a:endParaRPr lang="zh-CN" altLang="en-US"/>
          </a:p>
        </p:txBody>
      </p:sp>
      <p:sp>
        <p:nvSpPr>
          <p:cNvPr id="5" name="TextBox 5"/>
          <p:cNvSpPr>
            <a:spLocks noGrp="1"/>
          </p:cNvSpPr>
          <p:nvPr/>
        </p:nvSpPr>
        <p:spPr>
          <a:xfrm>
            <a:off x="14059668" y="4897521"/>
            <a:ext cx="4742928" cy="5016559"/>
          </a:xfrm>
          <a:prstGeom prst="rect">
            <a:avLst/>
          </a:prstGeom>
        </p:spPr>
        <p:txBody>
          <a:bodyPr lIns="50800" tIns="50800" rIns="50800" bIns="50800" anchor="ctr"/>
          <a:lstStyle/>
          <a:p>
            <a:pPr algn="ctr">
              <a:lnSpc>
                <a:spcPts val="2660"/>
              </a:lnSpc>
              <a:spcBef>
                <a:spcPct val="0"/>
              </a:spcBef>
              <a:buNone/>
            </a:pPr>
          </a:p>
        </p:txBody>
      </p:sp>
      <p:sp>
        <p:nvSpPr>
          <p:cNvPr id="6" name="Freeform 6"/>
          <p:cNvSpPr>
            <a:spLocks noGrp="1"/>
          </p:cNvSpPr>
          <p:nvPr/>
        </p:nvSpPr>
        <p:spPr>
          <a:xfrm rot="-2017032">
            <a:off x="9064467" y="477337"/>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a:spLocks noGrp="1"/>
          </p:cNvSpPr>
          <p:nvPr/>
        </p:nvSpPr>
        <p:spPr>
          <a:xfrm rot="4036359" flipH="1">
            <a:off x="14523053" y="-133709"/>
            <a:ext cx="3816159" cy="2518665"/>
          </a:xfrm>
          <a:custGeom>
            <a:avLst/>
            <a:gdLst/>
            <a:ahLst/>
            <a:cxnLst/>
            <a:rect l="l" t="t" r="r" b="b"/>
            <a:pathLst>
              <a:path w="3816159" h="2518665">
                <a:moveTo>
                  <a:pt x="3816160" y="0"/>
                </a:moveTo>
                <a:lnTo>
                  <a:pt x="0" y="0"/>
                </a:lnTo>
                <a:lnTo>
                  <a:pt x="0" y="2518665"/>
                </a:lnTo>
                <a:lnTo>
                  <a:pt x="3816160" y="2518665"/>
                </a:lnTo>
                <a:lnTo>
                  <a:pt x="381616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a:spLocks noGrp="1"/>
          </p:cNvSpPr>
          <p:nvPr/>
        </p:nvSpPr>
        <p:spPr>
          <a:xfrm>
            <a:off x="1028700" y="7542617"/>
            <a:ext cx="922942" cy="911196"/>
          </a:xfrm>
          <a:custGeom>
            <a:avLst/>
            <a:gdLst/>
            <a:ahLst/>
            <a:cxnLst/>
            <a:rect l="l" t="t" r="r" b="b"/>
            <a:pathLst>
              <a:path w="922942" h="911196">
                <a:moveTo>
                  <a:pt x="0" y="0"/>
                </a:moveTo>
                <a:lnTo>
                  <a:pt x="922942" y="0"/>
                </a:lnTo>
                <a:lnTo>
                  <a:pt x="922942" y="911195"/>
                </a:lnTo>
                <a:lnTo>
                  <a:pt x="0" y="911195"/>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rnd">
            <a:noFill/>
            <a:prstDash val="solid"/>
            <a:round/>
          </a:ln>
        </p:spPr>
      </p:sp>
      <p:sp>
        <p:nvSpPr>
          <p:cNvPr id="9" name="Freeform 9"/>
          <p:cNvSpPr>
            <a:spLocks noGrp="1"/>
          </p:cNvSpPr>
          <p:nvPr/>
        </p:nvSpPr>
        <p:spPr>
          <a:xfrm>
            <a:off x="1028700" y="2610721"/>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rnd">
            <a:noFill/>
            <a:prstDash val="solid"/>
            <a:round/>
          </a:ln>
        </p:spPr>
      </p:sp>
      <p:sp>
        <p:nvSpPr>
          <p:cNvPr id="10" name="Freeform 10"/>
          <p:cNvSpPr>
            <a:spLocks noGrp="1"/>
          </p:cNvSpPr>
          <p:nvPr/>
        </p:nvSpPr>
        <p:spPr>
          <a:xfrm>
            <a:off x="11328129" y="896854"/>
            <a:ext cx="2648499" cy="4950466"/>
          </a:xfrm>
          <a:custGeom>
            <a:avLst/>
            <a:gdLst/>
            <a:ahLst/>
            <a:cxnLst/>
            <a:rect l="l" t="t" r="r" b="b"/>
            <a:pathLst>
              <a:path w="2648499" h="4950466">
                <a:moveTo>
                  <a:pt x="0" y="0"/>
                </a:moveTo>
                <a:lnTo>
                  <a:pt x="2648499" y="0"/>
                </a:lnTo>
                <a:lnTo>
                  <a:pt x="2648499" y="4950465"/>
                </a:lnTo>
                <a:lnTo>
                  <a:pt x="0" y="4950465"/>
                </a:lnTo>
                <a:lnTo>
                  <a:pt x="0" y="0"/>
                </a:lnTo>
                <a:close/>
              </a:path>
            </a:pathLst>
          </a:custGeom>
          <a:blipFill>
            <a:blip r:embed="rId7"/>
            <a:stretch>
              <a:fillRect/>
            </a:stretch>
          </a:blipFill>
        </p:spPr>
      </p:sp>
      <p:sp>
        <p:nvSpPr>
          <p:cNvPr id="11" name="Freeform 11"/>
          <p:cNvSpPr>
            <a:spLocks noGrp="1"/>
          </p:cNvSpPr>
          <p:nvPr/>
        </p:nvSpPr>
        <p:spPr>
          <a:xfrm>
            <a:off x="14252854" y="733789"/>
            <a:ext cx="2487907" cy="5077360"/>
          </a:xfrm>
          <a:custGeom>
            <a:avLst/>
            <a:gdLst/>
            <a:ahLst/>
            <a:cxnLst/>
            <a:rect l="l" t="t" r="r" b="b"/>
            <a:pathLst>
              <a:path w="2487907" h="5077360">
                <a:moveTo>
                  <a:pt x="0" y="0"/>
                </a:moveTo>
                <a:lnTo>
                  <a:pt x="2487907" y="0"/>
                </a:lnTo>
                <a:lnTo>
                  <a:pt x="2487907" y="5077361"/>
                </a:lnTo>
                <a:lnTo>
                  <a:pt x="0" y="5077361"/>
                </a:lnTo>
                <a:lnTo>
                  <a:pt x="0" y="0"/>
                </a:lnTo>
                <a:close/>
              </a:path>
            </a:pathLst>
          </a:custGeom>
          <a:blipFill>
            <a:blip r:embed="rId8"/>
            <a:stretch>
              <a:fillRect/>
            </a:stretch>
          </a:blipFill>
        </p:spPr>
      </p:sp>
      <p:sp>
        <p:nvSpPr>
          <p:cNvPr id="12" name="TextBox 12"/>
          <p:cNvSpPr>
            <a:spLocks noGrp="1"/>
          </p:cNvSpPr>
          <p:nvPr/>
        </p:nvSpPr>
        <p:spPr>
          <a:xfrm>
            <a:off x="10975696" y="6366687"/>
            <a:ext cx="6554317" cy="2528570"/>
          </a:xfrm>
          <a:prstGeom prst="rect">
            <a:avLst/>
          </a:prstGeom>
        </p:spPr>
        <p:txBody>
          <a:bodyPr lIns="0" tIns="0" rIns="0" bIns="0" anchor="ctr"/>
          <a:lstStyle/>
          <a:p>
            <a:pPr algn="l">
              <a:lnSpc>
                <a:spcPts val="9860"/>
              </a:lnSpc>
              <a:buNone/>
            </a:pPr>
            <a:r>
              <a:rPr lang="en-US" sz="11600" b="0">
                <a:solidFill>
                  <a:srgbClr val="000000"/>
                </a:solidFill>
                <a:latin typeface="Segoe UI"/>
                <a:ea typeface="Segoe UI"/>
                <a:cs typeface="Segoe UI"/>
              </a:rPr>
              <a:t>Personal</a:t>
            </a:r>
          </a:p>
          <a:p>
            <a:pPr algn="l">
              <a:lnSpc>
                <a:spcPts val="9860"/>
              </a:lnSpc>
              <a:buNone/>
            </a:pPr>
            <a:r>
              <a:rPr lang="en-US" sz="11600" b="0">
                <a:solidFill>
                  <a:srgbClr val="000000"/>
                </a:solidFill>
                <a:latin typeface="Segoe UI"/>
                <a:ea typeface="Segoe UI"/>
                <a:cs typeface="Segoe UI"/>
              </a:rPr>
              <a:t>Profile</a:t>
            </a:r>
          </a:p>
        </p:txBody>
      </p:sp>
      <p:sp>
        <p:nvSpPr>
          <p:cNvPr id="13" name="TextBox 13"/>
          <p:cNvSpPr>
            <a:spLocks noGrp="1"/>
          </p:cNvSpPr>
          <p:nvPr/>
        </p:nvSpPr>
        <p:spPr>
          <a:xfrm>
            <a:off x="908685" y="1162050"/>
            <a:ext cx="6807200" cy="544830"/>
          </a:xfrm>
          <a:prstGeom prst="rect">
            <a:avLst/>
          </a:prstGeom>
        </p:spPr>
        <p:txBody>
          <a:bodyPr wrap="square" lIns="0" tIns="0" rIns="0" bIns="0" anchor="ctr"/>
          <a:lstStyle/>
          <a:p>
            <a:pPr algn="l">
              <a:lnSpc>
                <a:spcPts val="4250"/>
              </a:lnSpc>
              <a:buNone/>
            </a:pPr>
            <a:r>
              <a:rPr lang="en-US" altLang="zh-CN" sz="2200" b="0">
                <a:solidFill>
                  <a:srgbClr val="6E9B3F"/>
                </a:solidFill>
                <a:latin typeface="Segoe UI"/>
                <a:ea typeface="Segoe UI"/>
                <a:cs typeface="Segoe UI"/>
              </a:rPr>
              <a:t>aicareer.replit.app/#/intake   ·   four steps, five minutes</a:t>
            </a:r>
          </a:p>
        </p:txBody>
      </p:sp>
      <p:sp>
        <p:nvSpPr>
          <p:cNvPr id="14" name="TextBox 14"/>
          <p:cNvSpPr>
            <a:spLocks noGrp="1"/>
          </p:cNvSpPr>
          <p:nvPr/>
        </p:nvSpPr>
        <p:spPr>
          <a:xfrm>
            <a:off x="2283919" y="4864412"/>
            <a:ext cx="7274589" cy="1140460"/>
          </a:xfrm>
          <a:prstGeom prst="rect">
            <a:avLst/>
          </a:prstGeom>
        </p:spPr>
        <p:txBody>
          <a:bodyPr wrap="square" lIns="0" tIns="0" rIns="0" bIns="0" anchor="ctr"/>
          <a:lstStyle/>
          <a:p>
            <a:pPr algn="l">
              <a:lnSpc>
                <a:spcPts val="2965"/>
              </a:lnSpc>
              <a:buNone/>
            </a:pPr>
            <a:r>
              <a:rPr lang="en-US" sz="6000" b="0">
                <a:solidFill>
                  <a:srgbClr val="5F8F33"/>
                </a:solidFill>
                <a:latin typeface="Segoe UI"/>
                <a:ea typeface="Segoe UI"/>
                <a:cs typeface="Segoe UI"/>
              </a:rPr>
              <a:t>Preferences</a:t>
            </a:r>
          </a:p>
          <a:p>
            <a:pPr algn="l">
              <a:lnSpc>
                <a:spcPts val="2965"/>
              </a:lnSpc>
              <a:spcBef>
                <a:spcPts val="600"/>
              </a:spcBef>
              <a:buNone/>
            </a:pPr>
            <a:r>
              <a:rPr lang="en-US" sz="2400" b="0">
                <a:solidFill>
                  <a:srgbClr val="111111"/>
                </a:solidFill>
                <a:latin typeface="Segoe UI"/>
                <a:ea typeface="Segoe UI"/>
                <a:cs typeface="Segoe UI"/>
              </a:rPr>
              <a:t>five hours a week, $300, her interests</a:t>
            </a:r>
          </a:p>
        </p:txBody>
      </p:sp>
      <p:sp>
        <p:nvSpPr>
          <p:cNvPr id="15" name="TextBox 15"/>
          <p:cNvSpPr>
            <a:spLocks noGrp="1"/>
          </p:cNvSpPr>
          <p:nvPr/>
        </p:nvSpPr>
        <p:spPr>
          <a:xfrm>
            <a:off x="2364362" y="7402925"/>
            <a:ext cx="7274589" cy="379730"/>
          </a:xfrm>
          <a:prstGeom prst="rect">
            <a:avLst/>
          </a:prstGeom>
        </p:spPr>
        <p:txBody>
          <a:bodyPr lIns="0" tIns="0" rIns="0" bIns="0" anchor="ctr"/>
          <a:lstStyle/>
          <a:p>
            <a:pPr algn="l">
              <a:lnSpc>
                <a:spcPts val="2965"/>
              </a:lnSpc>
              <a:buNone/>
            </a:pPr>
            <a:r>
              <a:rPr lang="en-US" sz="6000" b="0">
                <a:solidFill>
                  <a:srgbClr val="5F8F33"/>
                </a:solidFill>
                <a:latin typeface="Segoe UI"/>
                <a:ea typeface="Segoe UI"/>
                <a:cs typeface="Segoe UI"/>
              </a:rPr>
              <a:t>Review</a:t>
            </a:r>
          </a:p>
          <a:p>
            <a:pPr algn="l">
              <a:lnSpc>
                <a:spcPts val="2965"/>
              </a:lnSpc>
              <a:spcBef>
                <a:spcPts val="600"/>
              </a:spcBef>
              <a:buNone/>
            </a:pPr>
            <a:r>
              <a:rPr lang="en-US" sz="2400" b="0">
                <a:solidFill>
                  <a:srgbClr val="111111"/>
                </a:solidFill>
                <a:latin typeface="Segoe UI"/>
                <a:ea typeface="Segoe UI"/>
                <a:cs typeface="Segoe UI"/>
              </a:rPr>
              <a:t>saved, then 12 future roles are scored</a:t>
            </a:r>
          </a:p>
        </p:txBody>
      </p:sp>
      <p:sp>
        <p:nvSpPr>
          <p:cNvPr id="16" name="TextBox 16"/>
          <p:cNvSpPr>
            <a:spLocks noGrp="1"/>
          </p:cNvSpPr>
          <p:nvPr/>
        </p:nvSpPr>
        <p:spPr>
          <a:xfrm>
            <a:off x="2209624" y="2568267"/>
            <a:ext cx="7274589" cy="1140460"/>
          </a:xfrm>
          <a:prstGeom prst="rect">
            <a:avLst/>
          </a:prstGeom>
        </p:spPr>
        <p:txBody>
          <a:bodyPr wrap="square" lIns="0" tIns="0" rIns="0" bIns="0" anchor="ctr"/>
          <a:lstStyle/>
          <a:p>
            <a:pPr algn="l">
              <a:lnSpc>
                <a:spcPts val="2965"/>
              </a:lnSpc>
              <a:buNone/>
            </a:pPr>
            <a:r>
              <a:rPr lang="en-US" sz="6000" b="0">
                <a:solidFill>
                  <a:srgbClr val="5F8F33"/>
                </a:solidFill>
                <a:latin typeface="Segoe UI"/>
                <a:ea typeface="Segoe UI"/>
                <a:cs typeface="Segoe UI"/>
              </a:rPr>
              <a:t>Skills</a:t>
            </a:r>
          </a:p>
          <a:p>
            <a:pPr algn="l">
              <a:lnSpc>
                <a:spcPts val="2965"/>
              </a:lnSpc>
              <a:spcBef>
                <a:spcPts val="600"/>
              </a:spcBef>
              <a:buNone/>
            </a:pPr>
            <a:r>
              <a:rPr lang="en-US" sz="2400" b="0">
                <a:solidFill>
                  <a:srgbClr val="111111"/>
                </a:solidFill>
                <a:latin typeface="Segoe UI"/>
                <a:ea typeface="Segoe UI"/>
                <a:cs typeface="Segoe UI"/>
              </a:rPr>
              <a:t>23 capabilities across five families, rated 1–5</a:t>
            </a:r>
          </a:p>
        </p:txBody>
      </p:sp>
      <p:sp>
        <p:nvSpPr>
          <p:cNvPr id="17" name="Freeform 17"/>
          <p:cNvSpPr>
            <a:spLocks noGrp="1"/>
          </p:cNvSpPr>
          <p:nvPr/>
        </p:nvSpPr>
        <p:spPr>
          <a:xfrm rot="-2017032">
            <a:off x="10091248" y="8832334"/>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rot="-9232430">
            <a:off x="-2208788" y="6033659"/>
            <a:ext cx="6234545" cy="4114800"/>
          </a:xfrm>
          <a:custGeom>
            <a:avLst/>
            <a:gdLst/>
            <a:ahLst/>
            <a:cxnLst/>
            <a:rect l="l" t="t" r="r" b="b"/>
            <a:pathLst>
              <a:path w="6234545" h="4114800">
                <a:moveTo>
                  <a:pt x="0" y="0"/>
                </a:moveTo>
                <a:lnTo>
                  <a:pt x="6234545" y="0"/>
                </a:lnTo>
                <a:lnTo>
                  <a:pt x="6234545"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a:spLocks noGrp="1"/>
          </p:cNvSpPr>
          <p:nvPr/>
        </p:nvSpPr>
        <p:spPr>
          <a:xfrm rot="1351300" flipH="1">
            <a:off x="13019839" y="3758351"/>
            <a:ext cx="885580" cy="1526862"/>
          </a:xfrm>
          <a:custGeom>
            <a:avLst/>
            <a:gdLst/>
            <a:ahLst/>
            <a:cxnLst/>
            <a:rect l="l" t="t" r="r" b="b"/>
            <a:pathLst>
              <a:path w="885580" h="1526862">
                <a:moveTo>
                  <a:pt x="885580" y="0"/>
                </a:moveTo>
                <a:lnTo>
                  <a:pt x="0" y="0"/>
                </a:lnTo>
                <a:lnTo>
                  <a:pt x="0" y="1526862"/>
                </a:lnTo>
                <a:lnTo>
                  <a:pt x="885580" y="1526862"/>
                </a:lnTo>
                <a:lnTo>
                  <a:pt x="88558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a:spLocks noGrp="1"/>
          </p:cNvSpPr>
          <p:nvPr/>
        </p:nvSpPr>
        <p:spPr>
          <a:xfrm rot="-9232430">
            <a:off x="14309403" y="-989419"/>
            <a:ext cx="4787664" cy="3159858"/>
          </a:xfrm>
          <a:custGeom>
            <a:avLst/>
            <a:gdLst/>
            <a:ahLst/>
            <a:cxnLst/>
            <a:rect l="l" t="t" r="r" b="b"/>
            <a:pathLst>
              <a:path w="4787664" h="3159858">
                <a:moveTo>
                  <a:pt x="0" y="0"/>
                </a:moveTo>
                <a:lnTo>
                  <a:pt x="4787664" y="0"/>
                </a:lnTo>
                <a:lnTo>
                  <a:pt x="4787664" y="3159859"/>
                </a:lnTo>
                <a:lnTo>
                  <a:pt x="0" y="315985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a:spLocks noGrp="1"/>
          </p:cNvSpPr>
          <p:nvPr/>
        </p:nvSpPr>
        <p:spPr>
          <a:xfrm>
            <a:off x="5156798" y="5980429"/>
            <a:ext cx="8823308" cy="3036810"/>
          </a:xfrm>
          <a:custGeom>
            <a:avLst/>
            <a:gdLst/>
            <a:ahLst/>
            <a:cxnLst/>
            <a:rect l="l" t="t" r="r" b="b"/>
            <a:pathLst>
              <a:path w="2005386" h="690215">
                <a:moveTo>
                  <a:pt x="44749" y="0"/>
                </a:moveTo>
                <a:lnTo>
                  <a:pt x="1960637" y="0"/>
                </a:lnTo>
                <a:cubicBezTo>
                  <a:pt x="1985351" y="0"/>
                  <a:pt x="2005386" y="20035"/>
                  <a:pt x="2005386" y="44749"/>
                </a:cubicBezTo>
                <a:lnTo>
                  <a:pt x="2005386" y="645465"/>
                </a:lnTo>
                <a:cubicBezTo>
                  <a:pt x="2005386" y="670180"/>
                  <a:pt x="1985351" y="690215"/>
                  <a:pt x="1960637" y="690215"/>
                </a:cubicBezTo>
                <a:lnTo>
                  <a:pt x="44749" y="690215"/>
                </a:lnTo>
                <a:cubicBezTo>
                  <a:pt x="32881" y="690215"/>
                  <a:pt x="21499" y="685500"/>
                  <a:pt x="13107" y="677108"/>
                </a:cubicBezTo>
                <a:cubicBezTo>
                  <a:pt x="4715" y="668716"/>
                  <a:pt x="0" y="657334"/>
                  <a:pt x="0" y="645465"/>
                </a:cubicBezTo>
                <a:lnTo>
                  <a:pt x="0" y="44749"/>
                </a:lnTo>
                <a:cubicBezTo>
                  <a:pt x="0" y="20035"/>
                  <a:pt x="20035" y="0"/>
                  <a:pt x="44749" y="0"/>
                </a:cubicBezTo>
                <a:close/>
              </a:path>
            </a:pathLst>
          </a:custGeom>
          <a:solidFill>
            <a:srgbClr val="F14975"/>
          </a:solidFill>
        </p:spPr>
      </p:sp>
      <p:sp>
        <p:nvSpPr>
          <p:cNvPr id="7" name="TextBox 7"/>
          <p:cNvSpPr>
            <a:spLocks noGrp="1"/>
          </p:cNvSpPr>
          <p:nvPr/>
        </p:nvSpPr>
        <p:spPr>
          <a:xfrm>
            <a:off x="5156798" y="5812797"/>
            <a:ext cx="8823308" cy="3204442"/>
          </a:xfrm>
          <a:prstGeom prst="rect">
            <a:avLst/>
          </a:prstGeom>
        </p:spPr>
        <p:txBody>
          <a:bodyPr lIns="50800" tIns="50800" rIns="50800" bIns="50800" anchor="ctr"/>
          <a:lstStyle/>
          <a:p>
            <a:pPr algn="ctr">
              <a:lnSpc>
                <a:spcPts val="2660"/>
              </a:lnSpc>
              <a:buNone/>
            </a:pPr>
          </a:p>
        </p:txBody>
      </p:sp>
      <p:sp>
        <p:nvSpPr>
          <p:cNvPr id="8" name="Freeform 8"/>
          <p:cNvSpPr>
            <a:spLocks noGrp="1"/>
          </p:cNvSpPr>
          <p:nvPr/>
        </p:nvSpPr>
        <p:spPr>
          <a:xfrm>
            <a:off x="8872583" y="5143500"/>
            <a:ext cx="1391738" cy="1374025"/>
          </a:xfrm>
          <a:custGeom>
            <a:avLst/>
            <a:gdLst/>
            <a:ahLst/>
            <a:cxnLst/>
            <a:rect l="l" t="t" r="r" b="b"/>
            <a:pathLst>
              <a:path w="1391738" h="1374025">
                <a:moveTo>
                  <a:pt x="0" y="0"/>
                </a:moveTo>
                <a:lnTo>
                  <a:pt x="1391738" y="0"/>
                </a:lnTo>
                <a:lnTo>
                  <a:pt x="1391738" y="1374025"/>
                </a:lnTo>
                <a:lnTo>
                  <a:pt x="0" y="1374025"/>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rnd">
            <a:noFill/>
            <a:prstDash val="solid"/>
            <a:round/>
          </a:ln>
        </p:spPr>
      </p:sp>
      <p:sp>
        <p:nvSpPr>
          <p:cNvPr id="9" name="Freeform 9"/>
          <p:cNvSpPr>
            <a:spLocks noGrp="1"/>
          </p:cNvSpPr>
          <p:nvPr/>
        </p:nvSpPr>
        <p:spPr>
          <a:xfrm flipH="1">
            <a:off x="-315886" y="3399584"/>
            <a:ext cx="5472684" cy="8229600"/>
          </a:xfrm>
          <a:custGeom>
            <a:avLst/>
            <a:gdLst/>
            <a:ahLst/>
            <a:cxnLst/>
            <a:rect l="l" t="t" r="r" b="b"/>
            <a:pathLst>
              <a:path w="5472684" h="8229600">
                <a:moveTo>
                  <a:pt x="5472684" y="0"/>
                </a:moveTo>
                <a:lnTo>
                  <a:pt x="0" y="0"/>
                </a:lnTo>
                <a:lnTo>
                  <a:pt x="0" y="8229600"/>
                </a:lnTo>
                <a:lnTo>
                  <a:pt x="5472684" y="8229600"/>
                </a:lnTo>
                <a:lnTo>
                  <a:pt x="5472684" y="0"/>
                </a:lnTo>
                <a:close/>
              </a:path>
            </a:pathLst>
          </a:custGeom>
          <a:blipFill>
            <a:blip r:embed="rId7"/>
            <a:stretch>
              <a:fillRect/>
            </a:stretch>
          </a:blipFill>
        </p:spPr>
      </p:sp>
      <p:sp>
        <p:nvSpPr>
          <p:cNvPr id="10" name="Freeform 10"/>
          <p:cNvSpPr>
            <a:spLocks noGrp="1"/>
          </p:cNvSpPr>
          <p:nvPr/>
        </p:nvSpPr>
        <p:spPr>
          <a:xfrm>
            <a:off x="14230744" y="3063135"/>
            <a:ext cx="4320540" cy="8229600"/>
          </a:xfrm>
          <a:custGeom>
            <a:avLst/>
            <a:gdLst/>
            <a:ahLst/>
            <a:cxnLst/>
            <a:rect l="l" t="t" r="r" b="b"/>
            <a:pathLst>
              <a:path w="4320540" h="8229600">
                <a:moveTo>
                  <a:pt x="0" y="0"/>
                </a:moveTo>
                <a:lnTo>
                  <a:pt x="4320540" y="0"/>
                </a:lnTo>
                <a:lnTo>
                  <a:pt x="4320540" y="8229600"/>
                </a:lnTo>
                <a:lnTo>
                  <a:pt x="0" y="8229600"/>
                </a:lnTo>
                <a:lnTo>
                  <a:pt x="0" y="0"/>
                </a:lnTo>
                <a:close/>
              </a:path>
            </a:pathLst>
          </a:custGeom>
          <a:blipFill>
            <a:blip r:embed="rId8"/>
            <a:stretch>
              <a:fillRect/>
            </a:stretch>
          </a:blipFill>
        </p:spPr>
      </p:sp>
      <p:sp>
        <p:nvSpPr>
          <p:cNvPr id="11" name="TextBox 11"/>
          <p:cNvSpPr>
            <a:spLocks noGrp="1"/>
          </p:cNvSpPr>
          <p:nvPr/>
        </p:nvSpPr>
        <p:spPr>
          <a:xfrm>
            <a:off x="4343656" y="952443"/>
            <a:ext cx="9641069" cy="2958465"/>
          </a:xfrm>
          <a:prstGeom prst="rect">
            <a:avLst/>
          </a:prstGeom>
        </p:spPr>
        <p:txBody>
          <a:bodyPr lIns="0" tIns="0" rIns="0" bIns="0" anchor="ctr"/>
          <a:lstStyle/>
          <a:p>
            <a:pPr algn="ctr">
              <a:lnSpc>
                <a:spcPts val="11535"/>
              </a:lnSpc>
              <a:buNone/>
            </a:pPr>
            <a:r>
              <a:rPr lang="en-US" sz="13575" b="0">
                <a:solidFill>
                  <a:srgbClr val="000000"/>
                </a:solidFill>
                <a:latin typeface="Segoe UI"/>
                <a:ea typeface="Segoe UI"/>
                <a:cs typeface="Segoe UI"/>
              </a:rPr>
              <a:t>Signal</a:t>
            </a:r>
          </a:p>
          <a:p>
            <a:pPr algn="ctr">
              <a:lnSpc>
                <a:spcPts val="11535"/>
              </a:lnSpc>
              <a:buNone/>
            </a:pPr>
            <a:r>
              <a:rPr lang="en-US" sz="13575" b="0">
                <a:solidFill>
                  <a:srgbClr val="000000"/>
                </a:solidFill>
                <a:latin typeface="Segoe UI"/>
                <a:ea typeface="Segoe UI"/>
                <a:cs typeface="Segoe UI"/>
              </a:rPr>
              <a:t>Layer</a:t>
            </a:r>
          </a:p>
        </p:txBody>
      </p:sp>
      <p:sp>
        <p:nvSpPr>
          <p:cNvPr id="12" name="TextBox 12"/>
          <p:cNvSpPr>
            <a:spLocks noGrp="1"/>
          </p:cNvSpPr>
          <p:nvPr/>
        </p:nvSpPr>
        <p:spPr>
          <a:xfrm>
            <a:off x="908485" y="1162023"/>
            <a:ext cx="3734215" cy="503901"/>
          </a:xfrm>
          <a:prstGeom prst="rect">
            <a:avLst/>
          </a:prstGeom>
        </p:spPr>
        <p:txBody>
          <a:bodyPr lIns="0" tIns="0" rIns="0" bIns="0" anchor="ctr"/>
          <a:lstStyle/>
          <a:p>
            <a:pPr algn="l">
              <a:lnSpc>
                <a:spcPts val="4250"/>
              </a:lnSpc>
              <a:buNone/>
            </a:pPr>
            <a:r>
              <a:rPr sz="1900" b="0">
                <a:solidFill>
                  <a:srgbClr val="2D6B57"/>
                </a:solidFill>
                <a:latin typeface="Segoe UI"/>
                <a:ea typeface="Segoe UI"/>
                <a:cs typeface="Segoe UI"/>
              </a:rPr>
              <a:t>24 SOURCES  ·  1,840 RECORDS</a:t>
            </a:r>
          </a:p>
        </p:txBody>
      </p:sp>
      <p:sp>
        <p:nvSpPr>
          <p:cNvPr id="13" name="TextBox 13"/>
          <p:cNvSpPr>
            <a:spLocks noGrp="1"/>
          </p:cNvSpPr>
          <p:nvPr/>
        </p:nvSpPr>
        <p:spPr>
          <a:xfrm>
            <a:off x="6019966" y="5905772"/>
            <a:ext cx="6889963" cy="3162300"/>
          </a:xfrm>
          <a:prstGeom prst="rect">
            <a:avLst/>
          </a:prstGeom>
        </p:spPr>
        <p:txBody>
          <a:bodyPr lIns="0" tIns="0" rIns="0" bIns="0" anchor="ctr"/>
          <a:lstStyle/>
          <a:p>
            <a:pPr algn="ctr">
              <a:lnSpc>
                <a:spcPct val="150000"/>
              </a:lnSpc>
              <a:buNone/>
            </a:pPr>
            <a:r>
              <a:rPr lang="en-US" sz="3300" b="0">
                <a:solidFill>
                  <a:srgbClr val="FFFFFF"/>
                </a:solidFill>
                <a:latin typeface="Segoe UI"/>
                <a:ea typeface="Segoe UI"/>
                <a:cs typeface="Segoe UI"/>
              </a:rPr>
              <a:t>20 dated signals</a:t>
            </a:r>
          </a:p>
          <a:p>
            <a:pPr algn="ctr">
              <a:lnSpc>
                <a:spcPct val="150000"/>
              </a:lnSpc>
              <a:buNone/>
            </a:pPr>
            <a:r>
              <a:rPr lang="en-US" sz="3300" b="0">
                <a:solidFill>
                  <a:srgbClr val="FFFFFF"/>
                </a:solidFill>
                <a:latin typeface="Segoe UI"/>
                <a:ea typeface="Segoe UI"/>
                <a:cs typeface="Segoe UI"/>
              </a:rPr>
              <a:t>19 publishers, all linked</a:t>
            </a:r>
          </a:p>
          <a:p>
            <a:pPr algn="ctr">
              <a:lnSpc>
                <a:spcPct val="150000"/>
              </a:lnSpc>
              <a:buNone/>
            </a:pPr>
            <a:r>
              <a:rPr lang="en-US" sz="3300" b="0">
                <a:solidFill>
                  <a:srgbClr val="FFFFFF"/>
                </a:solidFill>
                <a:latin typeface="Segoe UI"/>
                <a:ea typeface="Segoe UI"/>
                <a:cs typeface="Segoe UI"/>
              </a:rPr>
              <a:t>Rising, stable or declining</a:t>
            </a:r>
          </a:p>
        </p:txBody>
      </p:sp>
      <p:sp>
        <p:nvSpPr>
          <p:cNvPr id="14" name="Freeform 14"/>
          <p:cNvSpPr>
            <a:spLocks noGrp="1"/>
          </p:cNvSpPr>
          <p:nvPr/>
        </p:nvSpPr>
        <p:spPr>
          <a:xfrm rot="-2017032">
            <a:off x="4582314" y="2550646"/>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a:spLocks noGrp="1"/>
          </p:cNvSpPr>
          <p:nvPr/>
        </p:nvSpPr>
        <p:spPr>
          <a:xfrm>
            <a:off x="4104798" y="8765796"/>
            <a:ext cx="982286" cy="969784"/>
          </a:xfrm>
          <a:custGeom>
            <a:avLst/>
            <a:gdLst/>
            <a:ahLst/>
            <a:cxnLst/>
            <a:rect l="l" t="t" r="r" b="b"/>
            <a:pathLst>
              <a:path w="982286" h="969784">
                <a:moveTo>
                  <a:pt x="0" y="0"/>
                </a:moveTo>
                <a:lnTo>
                  <a:pt x="982286" y="0"/>
                </a:lnTo>
                <a:lnTo>
                  <a:pt x="982286" y="969785"/>
                </a:lnTo>
                <a:lnTo>
                  <a:pt x="0" y="969785"/>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rnd">
            <a:noFill/>
            <a:prstDash val="solid"/>
            <a:round/>
          </a:ln>
        </p:spPr>
      </p:sp>
      <p:sp>
        <p:nvSpPr>
          <p:cNvPr id="16" name="Freeform 16"/>
          <p:cNvSpPr>
            <a:spLocks noGrp="1"/>
          </p:cNvSpPr>
          <p:nvPr/>
        </p:nvSpPr>
        <p:spPr>
          <a:xfrm>
            <a:off x="13569717" y="932170"/>
            <a:ext cx="982286" cy="969784"/>
          </a:xfrm>
          <a:custGeom>
            <a:avLst/>
            <a:gdLst/>
            <a:ahLst/>
            <a:cxnLst/>
            <a:rect l="l" t="t" r="r" b="b"/>
            <a:pathLst>
              <a:path w="982286" h="969784">
                <a:moveTo>
                  <a:pt x="0" y="0"/>
                </a:moveTo>
                <a:lnTo>
                  <a:pt x="982286" y="0"/>
                </a:lnTo>
                <a:lnTo>
                  <a:pt x="982286" y="969784"/>
                </a:lnTo>
                <a:lnTo>
                  <a:pt x="0" y="969784"/>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rnd">
            <a:noFill/>
            <a:prstDash val="solid"/>
            <a:roun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rot="-9232430">
            <a:off x="3930127" y="8028259"/>
            <a:ext cx="4764885" cy="3144824"/>
          </a:xfrm>
          <a:custGeom>
            <a:avLst/>
            <a:gdLst/>
            <a:ahLst/>
            <a:cxnLst/>
            <a:rect l="l" t="t" r="r" b="b"/>
            <a:pathLst>
              <a:path w="4764885" h="3144824">
                <a:moveTo>
                  <a:pt x="0" y="0"/>
                </a:moveTo>
                <a:lnTo>
                  <a:pt x="4764885" y="0"/>
                </a:lnTo>
                <a:lnTo>
                  <a:pt x="4764885" y="3144824"/>
                </a:lnTo>
                <a:lnTo>
                  <a:pt x="0" y="314482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a:spLocks noGrp="1"/>
          </p:cNvSpPr>
          <p:nvPr/>
        </p:nvSpPr>
        <p:spPr>
          <a:xfrm rot="-9232430">
            <a:off x="14309403" y="-989419"/>
            <a:ext cx="4787664" cy="3159858"/>
          </a:xfrm>
          <a:custGeom>
            <a:avLst/>
            <a:gdLst/>
            <a:ahLst/>
            <a:cxnLst/>
            <a:rect l="l" t="t" r="r" b="b"/>
            <a:pathLst>
              <a:path w="4787664" h="3159858">
                <a:moveTo>
                  <a:pt x="0" y="0"/>
                </a:moveTo>
                <a:lnTo>
                  <a:pt x="4787664" y="0"/>
                </a:lnTo>
                <a:lnTo>
                  <a:pt x="4787664" y="3159859"/>
                </a:lnTo>
                <a:lnTo>
                  <a:pt x="0" y="315985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a:spLocks noGrp="1"/>
          </p:cNvSpPr>
          <p:nvPr/>
        </p:nvSpPr>
        <p:spPr>
          <a:xfrm>
            <a:off x="9214055" y="1461806"/>
            <a:ext cx="8047931" cy="2210896"/>
          </a:xfrm>
          <a:custGeom>
            <a:avLst/>
            <a:gdLst/>
            <a:ahLst/>
            <a:cxnLst/>
            <a:rect l="l" t="t" r="r" b="b"/>
            <a:pathLst>
              <a:path w="2512466" h="690215">
                <a:moveTo>
                  <a:pt x="49061" y="0"/>
                </a:moveTo>
                <a:lnTo>
                  <a:pt x="2463405" y="0"/>
                </a:lnTo>
                <a:cubicBezTo>
                  <a:pt x="2476416" y="0"/>
                  <a:pt x="2488895" y="5169"/>
                  <a:pt x="2498096" y="14370"/>
                </a:cubicBezTo>
                <a:cubicBezTo>
                  <a:pt x="2507297" y="23570"/>
                  <a:pt x="2512466" y="36049"/>
                  <a:pt x="2512466" y="49061"/>
                </a:cubicBezTo>
                <a:lnTo>
                  <a:pt x="2512466" y="641154"/>
                </a:lnTo>
                <a:cubicBezTo>
                  <a:pt x="2512466" y="668249"/>
                  <a:pt x="2490500" y="690215"/>
                  <a:pt x="2463405" y="690215"/>
                </a:cubicBezTo>
                <a:lnTo>
                  <a:pt x="49061" y="690215"/>
                </a:lnTo>
                <a:cubicBezTo>
                  <a:pt x="36049" y="690215"/>
                  <a:pt x="23570" y="685046"/>
                  <a:pt x="14370" y="675845"/>
                </a:cubicBezTo>
                <a:cubicBezTo>
                  <a:pt x="5169" y="666644"/>
                  <a:pt x="0" y="654166"/>
                  <a:pt x="0" y="641154"/>
                </a:cubicBezTo>
                <a:lnTo>
                  <a:pt x="0" y="49061"/>
                </a:lnTo>
                <a:cubicBezTo>
                  <a:pt x="0" y="21965"/>
                  <a:pt x="21965" y="0"/>
                  <a:pt x="49061" y="0"/>
                </a:cubicBezTo>
                <a:close/>
              </a:path>
            </a:pathLst>
          </a:custGeom>
          <a:solidFill>
            <a:srgbClr val="F14975"/>
          </a:solidFill>
        </p:spPr>
      </p:sp>
      <p:sp>
        <p:nvSpPr>
          <p:cNvPr id="6" name="TextBox 6"/>
          <p:cNvSpPr>
            <a:spLocks noGrp="1"/>
          </p:cNvSpPr>
          <p:nvPr/>
        </p:nvSpPr>
        <p:spPr>
          <a:xfrm>
            <a:off x="9214055" y="1339765"/>
            <a:ext cx="8047931" cy="2332937"/>
          </a:xfrm>
          <a:prstGeom prst="rect">
            <a:avLst/>
          </a:prstGeom>
        </p:spPr>
        <p:txBody>
          <a:bodyPr lIns="50800" tIns="50800" rIns="50800" bIns="50800" anchor="ctr"/>
          <a:lstStyle/>
          <a:p>
            <a:pPr algn="ctr">
              <a:lnSpc>
                <a:spcPts val="2660"/>
              </a:lnSpc>
              <a:buNone/>
            </a:pPr>
          </a:p>
        </p:txBody>
      </p:sp>
      <p:sp>
        <p:nvSpPr>
          <p:cNvPr id="7" name="Freeform 7"/>
          <p:cNvSpPr>
            <a:spLocks noGrp="1"/>
          </p:cNvSpPr>
          <p:nvPr/>
        </p:nvSpPr>
        <p:spPr>
          <a:xfrm rot="-2017032">
            <a:off x="17133199" y="8912557"/>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a:spLocks noGrp="1"/>
          </p:cNvSpPr>
          <p:nvPr/>
        </p:nvSpPr>
        <p:spPr>
          <a:xfrm rot="-2017032">
            <a:off x="6831140" y="747485"/>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a:spLocks noGrp="1"/>
          </p:cNvSpPr>
          <p:nvPr/>
        </p:nvSpPr>
        <p:spPr>
          <a:xfrm>
            <a:off x="684965" y="2095597"/>
            <a:ext cx="7077456" cy="8229600"/>
          </a:xfrm>
          <a:custGeom>
            <a:avLst/>
            <a:gdLst/>
            <a:ahLst/>
            <a:cxnLst/>
            <a:rect l="l" t="t" r="r" b="b"/>
            <a:pathLst>
              <a:path w="7077456" h="8229600">
                <a:moveTo>
                  <a:pt x="0" y="0"/>
                </a:moveTo>
                <a:lnTo>
                  <a:pt x="7077456" y="0"/>
                </a:lnTo>
                <a:lnTo>
                  <a:pt x="7077456" y="8229600"/>
                </a:lnTo>
                <a:lnTo>
                  <a:pt x="0" y="8229600"/>
                </a:lnTo>
                <a:lnTo>
                  <a:pt x="0" y="0"/>
                </a:lnTo>
                <a:close/>
              </a:path>
            </a:pathLst>
          </a:custGeom>
          <a:blipFill>
            <a:blip r:embed="rId5"/>
            <a:stretch>
              <a:fillRect/>
            </a:stretch>
          </a:blipFill>
        </p:spPr>
      </p:sp>
      <p:sp>
        <p:nvSpPr>
          <p:cNvPr id="10" name="TextBox 10"/>
          <p:cNvSpPr>
            <a:spLocks noGrp="1"/>
          </p:cNvSpPr>
          <p:nvPr/>
        </p:nvSpPr>
        <p:spPr>
          <a:xfrm>
            <a:off x="252758" y="114199"/>
            <a:ext cx="7942514" cy="2437765"/>
          </a:xfrm>
          <a:prstGeom prst="rect">
            <a:avLst/>
          </a:prstGeom>
        </p:spPr>
        <p:txBody>
          <a:bodyPr lIns="0" tIns="0" rIns="0" bIns="0" anchor="ctr"/>
          <a:lstStyle/>
          <a:p>
            <a:pPr algn="l">
              <a:lnSpc>
                <a:spcPts val="9505"/>
              </a:lnSpc>
              <a:buNone/>
            </a:pPr>
            <a:r>
              <a:rPr lang="en-US" sz="11180" b="0">
                <a:solidFill>
                  <a:srgbClr val="000000"/>
                </a:solidFill>
                <a:latin typeface="Segoe UI"/>
                <a:ea typeface="Segoe UI"/>
                <a:cs typeface="Segoe UI"/>
              </a:rPr>
              <a:t>Scenario</a:t>
            </a:r>
          </a:p>
          <a:p>
            <a:pPr algn="l">
              <a:lnSpc>
                <a:spcPts val="9505"/>
              </a:lnSpc>
              <a:buNone/>
            </a:pPr>
            <a:r>
              <a:rPr lang="en-US" sz="11180" b="0">
                <a:solidFill>
                  <a:srgbClr val="000000"/>
                </a:solidFill>
                <a:latin typeface="Segoe UI"/>
                <a:ea typeface="Segoe UI"/>
                <a:cs typeface="Segoe UI"/>
              </a:rPr>
              <a:t>Lab</a:t>
            </a:r>
          </a:p>
        </p:txBody>
      </p:sp>
      <p:sp>
        <p:nvSpPr>
          <p:cNvPr id="12" name="TextBox 12"/>
          <p:cNvSpPr>
            <a:spLocks noGrp="1"/>
          </p:cNvSpPr>
          <p:nvPr/>
        </p:nvSpPr>
        <p:spPr>
          <a:xfrm>
            <a:off x="10095778" y="1574698"/>
            <a:ext cx="6284485" cy="1975104"/>
          </a:xfrm>
          <a:prstGeom prst="rect">
            <a:avLst/>
          </a:prstGeom>
        </p:spPr>
        <p:txBody>
          <a:bodyPr lIns="0" tIns="0" rIns="0" bIns="0" anchor="ctr"/>
          <a:lstStyle/>
          <a:p>
            <a:pPr algn="l">
              <a:lnSpc>
                <a:spcPts val="2230"/>
              </a:lnSpc>
              <a:buNone/>
            </a:pPr>
            <a:r>
              <a:rPr sz="1900" b="1">
                <a:solidFill>
                  <a:srgbClr val="FFFFFF"/>
                </a:solidFill>
                <a:latin typeface="Segoe UI"/>
                <a:ea typeface="Segoe UI"/>
                <a:cs typeface="Segoe UI"/>
              </a:rPr>
              <a:t>Baseline adoption · 58% likelihood</a:t>
            </a:r>
          </a:p>
          <a:p>
            <a:pPr algn="l">
              <a:lnSpc>
                <a:spcPts val="2230"/>
              </a:lnSpc>
              <a:spcBef>
                <a:spcPts val="600"/>
              </a:spcBef>
              <a:buNone/>
            </a:pPr>
            <a:r>
              <a:rPr sz="1550" b="0">
                <a:solidFill>
                  <a:srgbClr val="FFFFFF"/>
                </a:solidFill>
                <a:latin typeface="Segoe UI"/>
                <a:ea typeface="Segoe UI"/>
                <a:cs typeface="Segoe UI"/>
              </a:rPr>
              <a:t>Adoption continues at today’s pace. Net employment +1.8%, 24% of tasks automated, reskilling demand 68/100, wage polarisation 52/100.</a:t>
            </a:r>
          </a:p>
        </p:txBody>
      </p:sp>
      <p:sp>
        <p:nvSpPr>
          <p:cNvPr id="14" name="Freeform 14"/>
          <p:cNvSpPr>
            <a:spLocks noGrp="1"/>
          </p:cNvSpPr>
          <p:nvPr/>
        </p:nvSpPr>
        <p:spPr>
          <a:xfrm>
            <a:off x="9214055" y="4038052"/>
            <a:ext cx="8047931" cy="2210896"/>
          </a:xfrm>
          <a:custGeom>
            <a:avLst/>
            <a:gdLst/>
            <a:ahLst/>
            <a:cxnLst/>
            <a:rect l="l" t="t" r="r" b="b"/>
            <a:pathLst>
              <a:path w="2512466" h="690215">
                <a:moveTo>
                  <a:pt x="49061" y="0"/>
                </a:moveTo>
                <a:lnTo>
                  <a:pt x="2463405" y="0"/>
                </a:lnTo>
                <a:cubicBezTo>
                  <a:pt x="2476416" y="0"/>
                  <a:pt x="2488895" y="5169"/>
                  <a:pt x="2498096" y="14370"/>
                </a:cubicBezTo>
                <a:cubicBezTo>
                  <a:pt x="2507297" y="23570"/>
                  <a:pt x="2512466" y="36049"/>
                  <a:pt x="2512466" y="49061"/>
                </a:cubicBezTo>
                <a:lnTo>
                  <a:pt x="2512466" y="641154"/>
                </a:lnTo>
                <a:cubicBezTo>
                  <a:pt x="2512466" y="668249"/>
                  <a:pt x="2490500" y="690215"/>
                  <a:pt x="2463405" y="690215"/>
                </a:cubicBezTo>
                <a:lnTo>
                  <a:pt x="49061" y="690215"/>
                </a:lnTo>
                <a:cubicBezTo>
                  <a:pt x="36049" y="690215"/>
                  <a:pt x="23570" y="685046"/>
                  <a:pt x="14370" y="675845"/>
                </a:cubicBezTo>
                <a:cubicBezTo>
                  <a:pt x="5169" y="666644"/>
                  <a:pt x="0" y="654166"/>
                  <a:pt x="0" y="641154"/>
                </a:cubicBezTo>
                <a:lnTo>
                  <a:pt x="0" y="49061"/>
                </a:lnTo>
                <a:cubicBezTo>
                  <a:pt x="0" y="21965"/>
                  <a:pt x="21965" y="0"/>
                  <a:pt x="49061" y="0"/>
                </a:cubicBezTo>
                <a:close/>
              </a:path>
            </a:pathLst>
          </a:custGeom>
          <a:solidFill>
            <a:srgbClr val="F14975"/>
          </a:solidFill>
        </p:spPr>
      </p:sp>
      <p:sp>
        <p:nvSpPr>
          <p:cNvPr id="15" name="TextBox 15"/>
          <p:cNvSpPr>
            <a:spLocks noGrp="1"/>
          </p:cNvSpPr>
          <p:nvPr/>
        </p:nvSpPr>
        <p:spPr>
          <a:xfrm>
            <a:off x="9214055" y="3916011"/>
            <a:ext cx="8047931" cy="2332937"/>
          </a:xfrm>
          <a:prstGeom prst="rect">
            <a:avLst/>
          </a:prstGeom>
        </p:spPr>
        <p:txBody>
          <a:bodyPr lIns="50800" tIns="50800" rIns="50800" bIns="50800" anchor="ctr"/>
          <a:lstStyle/>
          <a:p>
            <a:pPr algn="ctr">
              <a:lnSpc>
                <a:spcPts val="2660"/>
              </a:lnSpc>
              <a:buNone/>
            </a:pPr>
          </a:p>
        </p:txBody>
      </p:sp>
      <p:sp>
        <p:nvSpPr>
          <p:cNvPr id="16" name="TextBox 16"/>
          <p:cNvSpPr>
            <a:spLocks noGrp="1"/>
          </p:cNvSpPr>
          <p:nvPr/>
        </p:nvSpPr>
        <p:spPr>
          <a:xfrm>
            <a:off x="10095778" y="4150943"/>
            <a:ext cx="6284485" cy="1975104"/>
          </a:xfrm>
          <a:prstGeom prst="rect">
            <a:avLst/>
          </a:prstGeom>
        </p:spPr>
        <p:txBody>
          <a:bodyPr lIns="0" tIns="0" rIns="0" bIns="0" anchor="ctr"/>
          <a:lstStyle/>
          <a:p>
            <a:pPr algn="l">
              <a:lnSpc>
                <a:spcPts val="2230"/>
              </a:lnSpc>
              <a:buNone/>
            </a:pPr>
            <a:r>
              <a:rPr sz="1900" b="1">
                <a:solidFill>
                  <a:srgbClr val="FFFFFF"/>
                </a:solidFill>
                <a:latin typeface="Segoe UI"/>
                <a:ea typeface="Segoe UI"/>
                <a:cs typeface="Segoe UI"/>
              </a:rPr>
              <a:t>Accelerated automation · 26%</a:t>
            </a:r>
          </a:p>
          <a:p>
            <a:pPr algn="l">
              <a:lnSpc>
                <a:spcPts val="2230"/>
              </a:lnSpc>
              <a:spcBef>
                <a:spcPts val="600"/>
              </a:spcBef>
              <a:buNone/>
            </a:pPr>
            <a:r>
              <a:rPr sz="1550" b="0">
                <a:solidFill>
                  <a:srgbClr val="FFFFFF"/>
                </a:solidFill>
                <a:latin typeface="Segoe UI"/>
                <a:ea typeface="Segoe UI"/>
                <a:cs typeface="Segoe UI"/>
              </a:rPr>
              <a:t>Agentic systems move from assistant to actor. Net employment −2.6%, 41% of tasks automated, reskilling demand 86/100, polarisation 71/100.</a:t>
            </a:r>
          </a:p>
        </p:txBody>
      </p:sp>
      <p:sp>
        <p:nvSpPr>
          <p:cNvPr id="18" name="Freeform 18"/>
          <p:cNvSpPr>
            <a:spLocks noGrp="1"/>
          </p:cNvSpPr>
          <p:nvPr/>
        </p:nvSpPr>
        <p:spPr>
          <a:xfrm>
            <a:off x="9214055" y="6614297"/>
            <a:ext cx="8047931" cy="2210896"/>
          </a:xfrm>
          <a:custGeom>
            <a:avLst/>
            <a:gdLst/>
            <a:ahLst/>
            <a:cxnLst/>
            <a:rect l="l" t="t" r="r" b="b"/>
            <a:pathLst>
              <a:path w="2512466" h="690215">
                <a:moveTo>
                  <a:pt x="49061" y="0"/>
                </a:moveTo>
                <a:lnTo>
                  <a:pt x="2463405" y="0"/>
                </a:lnTo>
                <a:cubicBezTo>
                  <a:pt x="2476416" y="0"/>
                  <a:pt x="2488895" y="5169"/>
                  <a:pt x="2498096" y="14370"/>
                </a:cubicBezTo>
                <a:cubicBezTo>
                  <a:pt x="2507297" y="23570"/>
                  <a:pt x="2512466" y="36049"/>
                  <a:pt x="2512466" y="49061"/>
                </a:cubicBezTo>
                <a:lnTo>
                  <a:pt x="2512466" y="641154"/>
                </a:lnTo>
                <a:cubicBezTo>
                  <a:pt x="2512466" y="668249"/>
                  <a:pt x="2490500" y="690215"/>
                  <a:pt x="2463405" y="690215"/>
                </a:cubicBezTo>
                <a:lnTo>
                  <a:pt x="49061" y="690215"/>
                </a:lnTo>
                <a:cubicBezTo>
                  <a:pt x="36049" y="690215"/>
                  <a:pt x="23570" y="685046"/>
                  <a:pt x="14370" y="675845"/>
                </a:cubicBezTo>
                <a:cubicBezTo>
                  <a:pt x="5169" y="666644"/>
                  <a:pt x="0" y="654166"/>
                  <a:pt x="0" y="641154"/>
                </a:cubicBezTo>
                <a:lnTo>
                  <a:pt x="0" y="49061"/>
                </a:lnTo>
                <a:cubicBezTo>
                  <a:pt x="0" y="21965"/>
                  <a:pt x="21965" y="0"/>
                  <a:pt x="49061" y="0"/>
                </a:cubicBezTo>
                <a:close/>
              </a:path>
            </a:pathLst>
          </a:custGeom>
          <a:solidFill>
            <a:srgbClr val="F14975"/>
          </a:solidFill>
        </p:spPr>
      </p:sp>
      <p:sp>
        <p:nvSpPr>
          <p:cNvPr id="19" name="TextBox 19"/>
          <p:cNvSpPr>
            <a:spLocks noGrp="1"/>
          </p:cNvSpPr>
          <p:nvPr/>
        </p:nvSpPr>
        <p:spPr>
          <a:xfrm>
            <a:off x="9214055" y="6492256"/>
            <a:ext cx="8047931" cy="2332937"/>
          </a:xfrm>
          <a:prstGeom prst="rect">
            <a:avLst/>
          </a:prstGeom>
        </p:spPr>
        <p:txBody>
          <a:bodyPr lIns="50800" tIns="50800" rIns="50800" bIns="50800" anchor="ctr"/>
          <a:lstStyle/>
          <a:p>
            <a:pPr algn="ctr">
              <a:lnSpc>
                <a:spcPts val="2660"/>
              </a:lnSpc>
              <a:buNone/>
            </a:pPr>
          </a:p>
        </p:txBody>
      </p:sp>
      <p:sp>
        <p:nvSpPr>
          <p:cNvPr id="20" name="TextBox 20"/>
          <p:cNvSpPr>
            <a:spLocks noGrp="1"/>
          </p:cNvSpPr>
          <p:nvPr/>
        </p:nvSpPr>
        <p:spPr>
          <a:xfrm>
            <a:off x="10095778" y="6727188"/>
            <a:ext cx="6284485" cy="1975104"/>
          </a:xfrm>
          <a:prstGeom prst="rect">
            <a:avLst/>
          </a:prstGeom>
        </p:spPr>
        <p:txBody>
          <a:bodyPr lIns="0" tIns="0" rIns="0" bIns="0" anchor="ctr"/>
          <a:lstStyle/>
          <a:p>
            <a:pPr algn="l">
              <a:lnSpc>
                <a:spcPts val="2230"/>
              </a:lnSpc>
              <a:buNone/>
            </a:pPr>
            <a:r>
              <a:rPr sz="1900" b="1">
                <a:solidFill>
                  <a:srgbClr val="FFFFFF"/>
                </a:solidFill>
                <a:latin typeface="Segoe UI"/>
                <a:ea typeface="Segoe UI"/>
                <a:cs typeface="Segoe UI"/>
              </a:rPr>
              <a:t>Greener, regulated · 16%</a:t>
            </a:r>
          </a:p>
          <a:p>
            <a:pPr algn="l">
              <a:lnSpc>
                <a:spcPts val="2230"/>
              </a:lnSpc>
              <a:spcBef>
                <a:spcPts val="600"/>
              </a:spcBef>
              <a:buNone/>
            </a:pPr>
            <a:r>
              <a:rPr sz="1550" b="0">
                <a:solidFill>
                  <a:srgbClr val="FFFFFF"/>
                </a:solidFill>
                <a:latin typeface="Segoe UI"/>
                <a:ea typeface="Segoe UI"/>
                <a:cs typeface="Segoe UI"/>
              </a:rPr>
              <a:t>Climate disclosure and AI rules tighten together. Net employment +0.9%, 29% of tasks automated, reskilling demand 79/100, polarisation 58/100.</a:t>
            </a:r>
          </a:p>
        </p:txBody>
      </p:sp>
      <p:sp>
        <p:nvSpPr>
          <p:cNvPr id="21" name="Freeform 21"/>
          <p:cNvSpPr>
            <a:spLocks noGrp="1"/>
          </p:cNvSpPr>
          <p:nvPr/>
        </p:nvSpPr>
        <p:spPr>
          <a:xfrm>
            <a:off x="9011077" y="2525228"/>
            <a:ext cx="22205" cy="2780700"/>
          </a:xfrm>
          <a:custGeom>
            <a:avLst/>
            <a:gdLst/>
            <a:ahLst/>
            <a:cxnLst/>
            <a:rect l="l" t="t" r="r" b="b"/>
            <a:pathLst>
              <a:path w="22205" h="2780700">
                <a:moveTo>
                  <a:pt x="0" y="2780700"/>
                </a:moveTo>
                <a:lnTo>
                  <a:pt x="0" y="1401452"/>
                </a:lnTo>
                <a:cubicBezTo>
                  <a:pt x="0" y="1398508"/>
                  <a:pt x="1170" y="1395683"/>
                  <a:pt x="3252" y="1393601"/>
                </a:cubicBezTo>
                <a:cubicBezTo>
                  <a:pt x="5334" y="1391519"/>
                  <a:pt x="8158" y="1390350"/>
                  <a:pt x="11103" y="1390350"/>
                </a:cubicBezTo>
                <a:lnTo>
                  <a:pt x="11103" y="1390350"/>
                </a:lnTo>
                <a:cubicBezTo>
                  <a:pt x="14047" y="1390350"/>
                  <a:pt x="16871" y="1389180"/>
                  <a:pt x="18953" y="1387098"/>
                </a:cubicBezTo>
                <a:cubicBezTo>
                  <a:pt x="21035" y="1385016"/>
                  <a:pt x="22205" y="1382192"/>
                  <a:pt x="22205" y="1379247"/>
                </a:cubicBezTo>
                <a:lnTo>
                  <a:pt x="22205" y="0"/>
                </a:lnTo>
              </a:path>
            </a:pathLst>
          </a:custGeom>
          <a:ln w="38100" cap="flat">
            <a:solidFill>
              <a:srgbClr val="000000"/>
            </a:solidFill>
            <a:prstDash val="solid"/>
            <a:headEnd type="none" w="sm" len="sm"/>
            <a:tailEnd type="none" w="sm" len="sm"/>
          </a:ln>
        </p:spPr>
      </p:sp>
      <p:sp>
        <p:nvSpPr>
          <p:cNvPr id="22" name="Freeform 22"/>
          <p:cNvSpPr>
            <a:spLocks noGrp="1"/>
          </p:cNvSpPr>
          <p:nvPr/>
        </p:nvSpPr>
        <p:spPr>
          <a:xfrm>
            <a:off x="17284860" y="5101473"/>
            <a:ext cx="130490" cy="2766198"/>
          </a:xfrm>
          <a:custGeom>
            <a:avLst/>
            <a:gdLst/>
            <a:ahLst/>
            <a:cxnLst/>
            <a:rect l="l" t="t" r="r" b="b"/>
            <a:pathLst>
              <a:path w="130490" h="2766198">
                <a:moveTo>
                  <a:pt x="0" y="2766198"/>
                </a:moveTo>
                <a:lnTo>
                  <a:pt x="0" y="1448344"/>
                </a:lnTo>
                <a:cubicBezTo>
                  <a:pt x="0" y="1412310"/>
                  <a:pt x="29210" y="1383099"/>
                  <a:pt x="65245" y="1383099"/>
                </a:cubicBezTo>
                <a:lnTo>
                  <a:pt x="65245" y="1383099"/>
                </a:lnTo>
                <a:cubicBezTo>
                  <a:pt x="101279" y="1383099"/>
                  <a:pt x="130489" y="1353888"/>
                  <a:pt x="130489" y="1317854"/>
                </a:cubicBezTo>
                <a:lnTo>
                  <a:pt x="130489" y="0"/>
                </a:lnTo>
              </a:path>
            </a:pathLst>
          </a:custGeom>
          <a:ln w="38100" cap="flat">
            <a:solidFill>
              <a:srgbClr val="000000"/>
            </a:solidFill>
            <a:prstDash val="solid"/>
            <a:headEnd type="none" w="sm" len="sm"/>
            <a:tailEnd type="none" w="sm" len="sm"/>
          </a:ln>
        </p:spPr>
      </p:sp>
      <p:sp>
        <p:nvSpPr>
          <p:cNvPr id="23" name="Freeform 23"/>
          <p:cNvSpPr>
            <a:spLocks noGrp="1"/>
          </p:cNvSpPr>
          <p:nvPr/>
        </p:nvSpPr>
        <p:spPr>
          <a:xfrm>
            <a:off x="7786491" y="7304430"/>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rnd">
            <a:noFill/>
            <a:prstDash val="solid"/>
            <a:round/>
          </a:ln>
        </p:spPr>
      </p:sp>
      <p:sp>
        <p:nvSpPr>
          <p:cNvPr id="24" name="Freeform 24"/>
          <p:cNvSpPr>
            <a:spLocks noGrp="1"/>
          </p:cNvSpPr>
          <p:nvPr/>
        </p:nvSpPr>
        <p:spPr>
          <a:xfrm>
            <a:off x="567229" y="7677718"/>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rnd">
            <a:noFill/>
            <a:prstDash val="solid"/>
            <a:roun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a:off x="1028700" y="5074492"/>
            <a:ext cx="922942" cy="911196"/>
          </a:xfrm>
          <a:custGeom>
            <a:avLst/>
            <a:gdLst/>
            <a:ahLst/>
            <a:cxnLst/>
            <a:rect l="l" t="t" r="r" b="b"/>
            <a:pathLst>
              <a:path w="922942" h="911196">
                <a:moveTo>
                  <a:pt x="0" y="0"/>
                </a:moveTo>
                <a:lnTo>
                  <a:pt x="922942" y="0"/>
                </a:lnTo>
                <a:lnTo>
                  <a:pt x="922942" y="911195"/>
                </a:lnTo>
                <a:lnTo>
                  <a:pt x="0" y="911195"/>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rnd">
            <a:noFill/>
            <a:prstDash val="solid"/>
            <a:round/>
          </a:ln>
        </p:spPr>
      </p:sp>
      <p:sp>
        <p:nvSpPr>
          <p:cNvPr id="3" name="Freeform 3"/>
          <p:cNvSpPr>
            <a:spLocks noGrp="1"/>
          </p:cNvSpPr>
          <p:nvPr/>
        </p:nvSpPr>
        <p:spPr>
          <a:xfrm rot="-2017032">
            <a:off x="9064467" y="477337"/>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a:spLocks noGrp="1"/>
          </p:cNvSpPr>
          <p:nvPr/>
        </p:nvSpPr>
        <p:spPr>
          <a:xfrm rot="-8678342" flipH="1">
            <a:off x="13562732" y="-8285"/>
            <a:ext cx="5798392" cy="3826938"/>
          </a:xfrm>
          <a:custGeom>
            <a:avLst/>
            <a:gdLst/>
            <a:ahLst/>
            <a:cxnLst/>
            <a:rect l="l" t="t" r="r" b="b"/>
            <a:pathLst>
              <a:path w="5798392" h="3826938">
                <a:moveTo>
                  <a:pt x="5798392" y="0"/>
                </a:moveTo>
                <a:lnTo>
                  <a:pt x="0" y="0"/>
                </a:lnTo>
                <a:lnTo>
                  <a:pt x="0" y="3826939"/>
                </a:lnTo>
                <a:lnTo>
                  <a:pt x="5798392" y="3826939"/>
                </a:lnTo>
                <a:lnTo>
                  <a:pt x="5798392"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a:spLocks noGrp="1"/>
          </p:cNvSpPr>
          <p:nvPr/>
        </p:nvSpPr>
        <p:spPr>
          <a:xfrm>
            <a:off x="1028700" y="2610721"/>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rnd">
            <a:noFill/>
            <a:prstDash val="solid"/>
            <a:round/>
          </a:ln>
        </p:spPr>
      </p:sp>
      <p:sp>
        <p:nvSpPr>
          <p:cNvPr id="6" name="TextBox 6"/>
          <p:cNvSpPr>
            <a:spLocks noGrp="1"/>
          </p:cNvSpPr>
          <p:nvPr/>
        </p:nvSpPr>
        <p:spPr>
          <a:xfrm>
            <a:off x="908485" y="7574339"/>
            <a:ext cx="16270770" cy="1550670"/>
          </a:xfrm>
          <a:prstGeom prst="rect">
            <a:avLst/>
          </a:prstGeom>
        </p:spPr>
        <p:txBody>
          <a:bodyPr lIns="0" tIns="0" rIns="0" bIns="0" anchor="ctr"/>
          <a:lstStyle/>
          <a:p>
            <a:pPr algn="l">
              <a:lnSpc>
                <a:spcPts val="12095"/>
              </a:lnSpc>
              <a:buNone/>
            </a:pPr>
            <a:r>
              <a:rPr lang="en-US" sz="14230" b="0">
                <a:solidFill>
                  <a:srgbClr val="000000"/>
                </a:solidFill>
                <a:latin typeface="Segoe UI"/>
                <a:ea typeface="Segoe UI"/>
                <a:cs typeface="Segoe UI"/>
              </a:rPr>
              <a:t>Reskilling Pathway</a:t>
            </a:r>
          </a:p>
        </p:txBody>
      </p:sp>
      <p:sp>
        <p:nvSpPr>
          <p:cNvPr id="7" name="Freeform 7"/>
          <p:cNvSpPr>
            <a:spLocks noGrp="1"/>
          </p:cNvSpPr>
          <p:nvPr/>
        </p:nvSpPr>
        <p:spPr>
          <a:xfrm rot="-2017032">
            <a:off x="17129780" y="6872192"/>
            <a:ext cx="1148968" cy="1980980"/>
          </a:xfrm>
          <a:custGeom>
            <a:avLst/>
            <a:gdLst/>
            <a:ahLst/>
            <a:cxnLst/>
            <a:rect l="l" t="t" r="r" b="b"/>
            <a:pathLst>
              <a:path w="1148968" h="1980980">
                <a:moveTo>
                  <a:pt x="0" y="0"/>
                </a:moveTo>
                <a:lnTo>
                  <a:pt x="1148968" y="0"/>
                </a:lnTo>
                <a:lnTo>
                  <a:pt x="1148968" y="1980979"/>
                </a:lnTo>
                <a:lnTo>
                  <a:pt x="0" y="19809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a:spLocks noGrp="1"/>
          </p:cNvSpPr>
          <p:nvPr/>
        </p:nvSpPr>
        <p:spPr>
          <a:xfrm>
            <a:off x="11296525" y="1224914"/>
            <a:ext cx="4222570" cy="6302343"/>
          </a:xfrm>
          <a:custGeom>
            <a:avLst/>
            <a:gdLst/>
            <a:ahLst/>
            <a:cxnLst/>
            <a:rect l="l" t="t" r="r" b="b"/>
            <a:pathLst>
              <a:path w="4222570" h="6302343">
                <a:moveTo>
                  <a:pt x="0" y="0"/>
                </a:moveTo>
                <a:lnTo>
                  <a:pt x="4222570" y="0"/>
                </a:lnTo>
                <a:lnTo>
                  <a:pt x="4222570" y="6302343"/>
                </a:lnTo>
                <a:lnTo>
                  <a:pt x="0" y="6302343"/>
                </a:lnTo>
                <a:lnTo>
                  <a:pt x="0" y="0"/>
                </a:lnTo>
                <a:close/>
              </a:path>
            </a:pathLst>
          </a:custGeom>
          <a:blipFill>
            <a:blip r:embed="rId7"/>
            <a:stretch>
              <a:fillRect/>
            </a:stretch>
          </a:blipFill>
        </p:spPr>
      </p:sp>
      <p:sp>
        <p:nvSpPr>
          <p:cNvPr id="9" name="TextBox 9"/>
          <p:cNvSpPr>
            <a:spLocks noGrp="1"/>
          </p:cNvSpPr>
          <p:nvPr/>
        </p:nvSpPr>
        <p:spPr>
          <a:xfrm>
            <a:off x="908485" y="1162023"/>
            <a:ext cx="3734215" cy="503901"/>
          </a:xfrm>
          <a:prstGeom prst="rect">
            <a:avLst/>
          </a:prstGeom>
        </p:spPr>
        <p:txBody>
          <a:bodyPr lIns="0" tIns="0" rIns="0" bIns="0" anchor="ctr"/>
          <a:lstStyle/>
          <a:p>
            <a:pPr algn="l">
              <a:lnSpc>
                <a:spcPts val="4250"/>
              </a:lnSpc>
              <a:buNone/>
            </a:pPr>
            <a:r>
              <a:rPr sz="1800" b="0">
                <a:solidFill>
                  <a:srgbClr val="2D6B57"/>
                </a:solidFill>
                <a:latin typeface="Segoe UI"/>
                <a:ea typeface="Segoe UI"/>
                <a:cs typeface="Segoe UI"/>
              </a:rPr>
              <a:t>THREE PHASES  ·  5 HOURS A WEEK</a:t>
            </a:r>
          </a:p>
        </p:txBody>
      </p:sp>
      <p:sp>
        <p:nvSpPr>
          <p:cNvPr id="10" name="TextBox 10"/>
          <p:cNvSpPr>
            <a:spLocks noGrp="1"/>
          </p:cNvSpPr>
          <p:nvPr/>
        </p:nvSpPr>
        <p:spPr>
          <a:xfrm>
            <a:off x="2283919" y="4864412"/>
            <a:ext cx="7274589" cy="1855375"/>
          </a:xfrm>
          <a:prstGeom prst="rect">
            <a:avLst/>
          </a:prstGeom>
        </p:spPr>
        <p:txBody>
          <a:bodyPr lIns="0" tIns="0" rIns="0" bIns="0" anchor="ctr"/>
          <a:lstStyle/>
          <a:p>
            <a:pPr algn="l">
              <a:lnSpc>
                <a:spcPts val="2965"/>
              </a:lnSpc>
              <a:buNone/>
            </a:pPr>
            <a:r>
              <a:rPr sz="2050" b="0">
                <a:solidFill>
                  <a:srgbClr val="111111"/>
                </a:solidFill>
                <a:latin typeface="Segoe UI"/>
                <a:ea typeface="Segoe UI"/>
                <a:cs typeface="Segoe UI"/>
              </a:rPr>
              <a:t>Three phases turn those gaps into a plan: foundations, role-specific skills, then portfolio development. At five hours a week it lifts projected readiness from 83 to 95 — a projection, not a promise.</a:t>
            </a:r>
          </a:p>
        </p:txBody>
      </p:sp>
      <p:sp>
        <p:nvSpPr>
          <p:cNvPr id="11" name="TextBox 11"/>
          <p:cNvSpPr>
            <a:spLocks noGrp="1"/>
          </p:cNvSpPr>
          <p:nvPr/>
        </p:nvSpPr>
        <p:spPr>
          <a:xfrm>
            <a:off x="2283919" y="2568267"/>
            <a:ext cx="7274589" cy="1855375"/>
          </a:xfrm>
          <a:prstGeom prst="rect">
            <a:avLst/>
          </a:prstGeom>
        </p:spPr>
        <p:txBody>
          <a:bodyPr lIns="0" tIns="0" rIns="0" bIns="0" anchor="ctr"/>
          <a:lstStyle/>
          <a:p>
            <a:pPr algn="l">
              <a:lnSpc>
                <a:spcPts val="2965"/>
              </a:lnSpc>
              <a:buNone/>
            </a:pPr>
            <a:r>
              <a:rPr sz="2050" b="0">
                <a:solidFill>
                  <a:srgbClr val="111111"/>
                </a:solidFill>
                <a:latin typeface="Segoe UI"/>
                <a:ea typeface="Segoe UI"/>
                <a:cs typeface="Segoe UI"/>
              </a:rPr>
              <a:t>The plan is built from the gap, not from a catalogue. Aina’s top match is Agri-Food Systems Analyst at 90/100, and the two gaps that matter — research and data literacy — are closed with free activities, projects and peer reviews.</a:t>
            </a:r>
          </a:p>
        </p:txBody>
      </p:sp>
      <p:sp>
        <p:nvSpPr>
          <p:cNvPr id="12" name="Freeform 12"/>
          <p:cNvSpPr>
            <a:spLocks noGrp="1"/>
          </p:cNvSpPr>
          <p:nvPr/>
        </p:nvSpPr>
        <p:spPr>
          <a:xfrm>
            <a:off x="10835054" y="4232304"/>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rnd">
            <a:noFill/>
            <a:prstDash val="solid"/>
            <a:round/>
          </a:ln>
        </p:spPr>
      </p:sp>
      <p:sp>
        <p:nvSpPr>
          <p:cNvPr id="13" name="Freeform 13"/>
          <p:cNvSpPr>
            <a:spLocks noGrp="1"/>
          </p:cNvSpPr>
          <p:nvPr/>
        </p:nvSpPr>
        <p:spPr>
          <a:xfrm>
            <a:off x="16130996" y="4817845"/>
            <a:ext cx="922942" cy="911196"/>
          </a:xfrm>
          <a:custGeom>
            <a:avLst/>
            <a:gdLst/>
            <a:ahLst/>
            <a:cxnLst/>
            <a:rect l="l" t="t" r="r" b="b"/>
            <a:pathLst>
              <a:path w="922942" h="911196">
                <a:moveTo>
                  <a:pt x="0" y="0"/>
                </a:moveTo>
                <a:lnTo>
                  <a:pt x="922942" y="0"/>
                </a:lnTo>
                <a:lnTo>
                  <a:pt x="922942" y="911195"/>
                </a:lnTo>
                <a:lnTo>
                  <a:pt x="0" y="911195"/>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rnd">
            <a:noFill/>
            <a:prstDash val="solid"/>
            <a:roun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rot="-9232430">
            <a:off x="-2208788" y="6033659"/>
            <a:ext cx="6234545" cy="4114800"/>
          </a:xfrm>
          <a:custGeom>
            <a:avLst/>
            <a:gdLst/>
            <a:ahLst/>
            <a:cxnLst/>
            <a:rect l="l" t="t" r="r" b="b"/>
            <a:pathLst>
              <a:path w="6234545" h="4114800">
                <a:moveTo>
                  <a:pt x="0" y="0"/>
                </a:moveTo>
                <a:lnTo>
                  <a:pt x="6234545" y="0"/>
                </a:lnTo>
                <a:lnTo>
                  <a:pt x="6234545"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a:spLocks noGrp="1"/>
          </p:cNvSpPr>
          <p:nvPr/>
        </p:nvSpPr>
        <p:spPr>
          <a:xfrm rot="1351300" flipH="1">
            <a:off x="13019839" y="3758351"/>
            <a:ext cx="885580" cy="1526862"/>
          </a:xfrm>
          <a:custGeom>
            <a:avLst/>
            <a:gdLst/>
            <a:ahLst/>
            <a:cxnLst/>
            <a:rect l="l" t="t" r="r" b="b"/>
            <a:pathLst>
              <a:path w="885580" h="1526862">
                <a:moveTo>
                  <a:pt x="885580" y="0"/>
                </a:moveTo>
                <a:lnTo>
                  <a:pt x="0" y="0"/>
                </a:lnTo>
                <a:lnTo>
                  <a:pt x="0" y="1526862"/>
                </a:lnTo>
                <a:lnTo>
                  <a:pt x="885580" y="1526862"/>
                </a:lnTo>
                <a:lnTo>
                  <a:pt x="88558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a:spLocks noGrp="1"/>
          </p:cNvSpPr>
          <p:nvPr/>
        </p:nvSpPr>
        <p:spPr>
          <a:xfrm rot="-9232430">
            <a:off x="14309403" y="-989419"/>
            <a:ext cx="4787664" cy="3159858"/>
          </a:xfrm>
          <a:custGeom>
            <a:avLst/>
            <a:gdLst/>
            <a:ahLst/>
            <a:cxnLst/>
            <a:rect l="l" t="t" r="r" b="b"/>
            <a:pathLst>
              <a:path w="4787664" h="3159858">
                <a:moveTo>
                  <a:pt x="0" y="0"/>
                </a:moveTo>
                <a:lnTo>
                  <a:pt x="4787664" y="0"/>
                </a:lnTo>
                <a:lnTo>
                  <a:pt x="4787664" y="3159859"/>
                </a:lnTo>
                <a:lnTo>
                  <a:pt x="0" y="315985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a:spLocks noGrp="1"/>
          </p:cNvSpPr>
          <p:nvPr/>
        </p:nvSpPr>
        <p:spPr>
          <a:xfrm>
            <a:off x="13944359" y="1638195"/>
            <a:ext cx="4320540" cy="8229600"/>
          </a:xfrm>
          <a:custGeom>
            <a:avLst/>
            <a:gdLst/>
            <a:ahLst/>
            <a:cxnLst/>
            <a:rect l="l" t="t" r="r" b="b"/>
            <a:pathLst>
              <a:path w="4320540" h="8229600">
                <a:moveTo>
                  <a:pt x="0" y="0"/>
                </a:moveTo>
                <a:lnTo>
                  <a:pt x="4320540" y="0"/>
                </a:lnTo>
                <a:lnTo>
                  <a:pt x="4320540" y="8229600"/>
                </a:lnTo>
                <a:lnTo>
                  <a:pt x="0" y="8229600"/>
                </a:lnTo>
                <a:lnTo>
                  <a:pt x="0" y="0"/>
                </a:lnTo>
                <a:close/>
              </a:path>
            </a:pathLst>
          </a:custGeom>
          <a:blipFill>
            <a:blip r:embed="rId5"/>
            <a:stretch>
              <a:fillRect/>
            </a:stretch>
          </a:blipFill>
        </p:spPr>
      </p:sp>
      <p:sp>
        <p:nvSpPr>
          <p:cNvPr id="6" name="TextBox 6"/>
          <p:cNvSpPr>
            <a:spLocks noGrp="1"/>
          </p:cNvSpPr>
          <p:nvPr/>
        </p:nvSpPr>
        <p:spPr>
          <a:xfrm>
            <a:off x="4642700" y="495290"/>
            <a:ext cx="9641069" cy="2958465"/>
          </a:xfrm>
          <a:prstGeom prst="rect">
            <a:avLst/>
          </a:prstGeom>
        </p:spPr>
        <p:txBody>
          <a:bodyPr lIns="0" tIns="0" rIns="0" bIns="0" anchor="ctr"/>
          <a:lstStyle/>
          <a:p>
            <a:pPr algn="ctr">
              <a:lnSpc>
                <a:spcPts val="11535"/>
              </a:lnSpc>
              <a:buNone/>
            </a:pPr>
            <a:r>
              <a:rPr lang="en-US" sz="13575" b="0">
                <a:solidFill>
                  <a:srgbClr val="000000"/>
                </a:solidFill>
                <a:latin typeface="Segoe UI"/>
                <a:ea typeface="Segoe UI"/>
                <a:cs typeface="Segoe UI"/>
              </a:rPr>
              <a:t>SDG Mapping</a:t>
            </a:r>
          </a:p>
        </p:txBody>
      </p:sp>
      <p:sp>
        <p:nvSpPr>
          <p:cNvPr id="7" name="Freeform 7"/>
          <p:cNvSpPr>
            <a:spLocks noGrp="1"/>
          </p:cNvSpPr>
          <p:nvPr/>
        </p:nvSpPr>
        <p:spPr>
          <a:xfrm rot="-2017032">
            <a:off x="4582314" y="2550646"/>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a:spLocks noGrp="1"/>
          </p:cNvSpPr>
          <p:nvPr/>
        </p:nvSpPr>
        <p:spPr>
          <a:xfrm>
            <a:off x="4104798" y="8765796"/>
            <a:ext cx="982286" cy="969784"/>
          </a:xfrm>
          <a:custGeom>
            <a:avLst/>
            <a:gdLst/>
            <a:ahLst/>
            <a:cxnLst/>
            <a:rect l="l" t="t" r="r" b="b"/>
            <a:pathLst>
              <a:path w="982286" h="969784">
                <a:moveTo>
                  <a:pt x="0" y="0"/>
                </a:moveTo>
                <a:lnTo>
                  <a:pt x="982286" y="0"/>
                </a:lnTo>
                <a:lnTo>
                  <a:pt x="982286" y="969785"/>
                </a:lnTo>
                <a:lnTo>
                  <a:pt x="0" y="969785"/>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rnd">
            <a:noFill/>
            <a:prstDash val="solid"/>
            <a:round/>
          </a:ln>
        </p:spPr>
      </p:sp>
      <p:sp>
        <p:nvSpPr>
          <p:cNvPr id="9" name="Freeform 9"/>
          <p:cNvSpPr>
            <a:spLocks noGrp="1"/>
          </p:cNvSpPr>
          <p:nvPr/>
        </p:nvSpPr>
        <p:spPr>
          <a:xfrm>
            <a:off x="13569717" y="932170"/>
            <a:ext cx="982286" cy="969784"/>
          </a:xfrm>
          <a:custGeom>
            <a:avLst/>
            <a:gdLst/>
            <a:ahLst/>
            <a:cxnLst/>
            <a:rect l="l" t="t" r="r" b="b"/>
            <a:pathLst>
              <a:path w="982286" h="969784">
                <a:moveTo>
                  <a:pt x="0" y="0"/>
                </a:moveTo>
                <a:lnTo>
                  <a:pt x="982286" y="0"/>
                </a:lnTo>
                <a:lnTo>
                  <a:pt x="982286" y="969784"/>
                </a:lnTo>
                <a:lnTo>
                  <a:pt x="0" y="969784"/>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rnd">
            <a:noFill/>
            <a:prstDash val="solid"/>
            <a:round/>
          </a:ln>
        </p:spPr>
      </p:sp>
      <p:sp>
        <p:nvSpPr>
          <p:cNvPr id="10" name="Freeform 10"/>
          <p:cNvSpPr>
            <a:spLocks noGrp="1"/>
          </p:cNvSpPr>
          <p:nvPr/>
        </p:nvSpPr>
        <p:spPr>
          <a:xfrm>
            <a:off x="-293" y="1409853"/>
            <a:ext cx="4567428" cy="8229600"/>
          </a:xfrm>
          <a:custGeom>
            <a:avLst/>
            <a:gdLst/>
            <a:ahLst/>
            <a:cxnLst/>
            <a:rect l="l" t="t" r="r" b="b"/>
            <a:pathLst>
              <a:path w="4567428" h="8229600">
                <a:moveTo>
                  <a:pt x="0" y="0"/>
                </a:moveTo>
                <a:lnTo>
                  <a:pt x="4567428" y="0"/>
                </a:lnTo>
                <a:lnTo>
                  <a:pt x="4567428" y="8229600"/>
                </a:lnTo>
                <a:lnTo>
                  <a:pt x="0" y="8229600"/>
                </a:lnTo>
                <a:lnTo>
                  <a:pt x="0" y="0"/>
                </a:lnTo>
                <a:close/>
              </a:path>
            </a:pathLst>
          </a:custGeom>
          <a:blipFill>
            <a:blip r:embed="rId8"/>
            <a:stretch>
              <a:fillRect/>
            </a:stretch>
          </a:blipFill>
        </p:spPr>
      </p:sp>
      <p:sp>
        <p:nvSpPr>
          <p:cNvPr id="12" name="TextBox 12"/>
          <p:cNvSpPr>
            <a:spLocks noGrp="1"/>
          </p:cNvSpPr>
          <p:nvPr/>
        </p:nvSpPr>
        <p:spPr>
          <a:xfrm>
            <a:off x="5744473" y="5062647"/>
            <a:ext cx="6889963" cy="391795"/>
          </a:xfrm>
          <a:prstGeom prst="rect">
            <a:avLst/>
          </a:prstGeom>
        </p:spPr>
        <p:txBody>
          <a:bodyPr lIns="0" tIns="0" rIns="0" bIns="0" anchor="t">
            <a:spAutoFit/>
          </a:bodyPr>
          <a:lstStyle/>
          <a:p>
            <a:pPr algn="ctr">
              <a:lnSpc>
                <a:spcPts val="3060"/>
              </a:lnSpc>
              <a:spcBef>
                <a:spcPct val="0"/>
              </a:spcBef>
              <a:buNone/>
            </a:pPr>
            <a:endParaRPr sz="2185">
              <a:solidFill>
                <a:srgbClr val="282A2A"/>
              </a:solidFill>
              <a:latin typeface="Segoe UI"/>
              <a:ea typeface="Segoe UI"/>
              <a:cs typeface="Segoe UI"/>
            </a:endParaRPr>
          </a:p>
        </p:txBody>
      </p:sp>
      <p:sp>
        <p:nvSpPr>
          <p:cNvPr id="13" name="TextBox 13"/>
          <p:cNvSpPr>
            <a:spLocks noGrp="1"/>
          </p:cNvSpPr>
          <p:nvPr/>
        </p:nvSpPr>
        <p:spPr>
          <a:xfrm>
            <a:off x="5699018" y="7559780"/>
            <a:ext cx="6889963" cy="1887534"/>
          </a:xfrm>
          <a:prstGeom prst="rect">
            <a:avLst/>
          </a:prstGeom>
        </p:spPr>
        <p:txBody>
          <a:bodyPr lIns="0" tIns="0" rIns="0" bIns="0" anchor="ctr"/>
          <a:lstStyle/>
          <a:p>
            <a:pPr algn="ctr">
              <a:lnSpc>
                <a:spcPts val="3060"/>
              </a:lnSpc>
              <a:buNone/>
            </a:pPr>
            <a:r>
              <a:rPr sz="2100" b="0">
                <a:solidFill>
                  <a:srgbClr val="282A2A"/>
                </a:solidFill>
                <a:latin typeface="Segoe UI"/>
                <a:ea typeface="Segoe UI"/>
                <a:cs typeface="Segoe UI"/>
              </a:rPr>
              <a:t>Every role carries a weighted SDG contribution with a written rationale — never a logo strip. Aina’s path scores highest on SDG 4 Quality education (91), SDG 13 Climate action (88) and SDG 10 Reduced inequalities (74), with the roles, skills and evidence behind each.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p:sp>
        <p:nvSpPr>
          <p:cNvPr id="2" name="Freeform 2"/>
          <p:cNvSpPr>
            <a:spLocks noGrp="1"/>
          </p:cNvSpPr>
          <p:nvPr/>
        </p:nvSpPr>
        <p:spPr>
          <a:xfrm flipV="1">
            <a:off x="-847368" y="-270713"/>
            <a:ext cx="6509105" cy="4296009"/>
          </a:xfrm>
          <a:custGeom>
            <a:avLst/>
            <a:gdLst/>
            <a:ahLst/>
            <a:cxnLst/>
            <a:rect l="l" t="t" r="r" b="b"/>
            <a:pathLst>
              <a:path w="6509105" h="4296009">
                <a:moveTo>
                  <a:pt x="0" y="4296010"/>
                </a:moveTo>
                <a:lnTo>
                  <a:pt x="6509105" y="4296010"/>
                </a:lnTo>
                <a:lnTo>
                  <a:pt x="6509105" y="0"/>
                </a:lnTo>
                <a:lnTo>
                  <a:pt x="0" y="0"/>
                </a:lnTo>
                <a:lnTo>
                  <a:pt x="0" y="4296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a:spLocks noGrp="1"/>
          </p:cNvSpPr>
          <p:nvPr/>
        </p:nvSpPr>
        <p:spPr>
          <a:xfrm rot="-2700000">
            <a:off x="12821617" y="649685"/>
            <a:ext cx="6234545" cy="4114800"/>
          </a:xfrm>
          <a:custGeom>
            <a:avLst/>
            <a:gdLst/>
            <a:ahLst/>
            <a:cxnLst/>
            <a:rect l="l" t="t" r="r" b="b"/>
            <a:pathLst>
              <a:path w="6234545" h="4114800">
                <a:moveTo>
                  <a:pt x="0" y="0"/>
                </a:moveTo>
                <a:lnTo>
                  <a:pt x="6234546" y="0"/>
                </a:lnTo>
                <a:lnTo>
                  <a:pt x="6234546"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a:spLocks noGrp="1"/>
          </p:cNvSpPr>
          <p:nvPr/>
        </p:nvSpPr>
        <p:spPr>
          <a:xfrm>
            <a:off x="12467684" y="7334746"/>
            <a:ext cx="982286" cy="969784"/>
          </a:xfrm>
          <a:custGeom>
            <a:avLst/>
            <a:gdLst/>
            <a:ahLst/>
            <a:cxnLst/>
            <a:rect l="l" t="t" r="r" b="b"/>
            <a:pathLst>
              <a:path w="982286" h="969784">
                <a:moveTo>
                  <a:pt x="0" y="0"/>
                </a:moveTo>
                <a:lnTo>
                  <a:pt x="982286" y="0"/>
                </a:lnTo>
                <a:lnTo>
                  <a:pt x="982286" y="969784"/>
                </a:lnTo>
                <a:lnTo>
                  <a:pt x="0" y="96978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rnd">
            <a:noFill/>
            <a:prstDash val="solid"/>
            <a:round/>
          </a:ln>
        </p:spPr>
      </p:sp>
      <p:sp>
        <p:nvSpPr>
          <p:cNvPr id="5" name="Freeform 5"/>
          <p:cNvSpPr>
            <a:spLocks noGrp="1"/>
          </p:cNvSpPr>
          <p:nvPr/>
        </p:nvSpPr>
        <p:spPr>
          <a:xfrm rot="-2017032">
            <a:off x="5933782" y="8588220"/>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a:spLocks noGrp="1"/>
          </p:cNvSpPr>
          <p:nvPr/>
        </p:nvSpPr>
        <p:spPr>
          <a:xfrm rot="-2017032">
            <a:off x="12056106" y="829305"/>
            <a:ext cx="932060" cy="1607000"/>
          </a:xfrm>
          <a:custGeom>
            <a:avLst/>
            <a:gdLst/>
            <a:ahLst/>
            <a:cxnLst/>
            <a:rect l="l" t="t" r="r" b="b"/>
            <a:pathLst>
              <a:path w="932060" h="1607000">
                <a:moveTo>
                  <a:pt x="0" y="0"/>
                </a:moveTo>
                <a:lnTo>
                  <a:pt x="932060" y="0"/>
                </a:lnTo>
                <a:lnTo>
                  <a:pt x="932060" y="1607000"/>
                </a:lnTo>
                <a:lnTo>
                  <a:pt x="0" y="1607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a:spLocks noGrp="1"/>
          </p:cNvSpPr>
          <p:nvPr/>
        </p:nvSpPr>
        <p:spPr>
          <a:xfrm>
            <a:off x="622892" y="6423612"/>
            <a:ext cx="982286" cy="969784"/>
          </a:xfrm>
          <a:custGeom>
            <a:avLst/>
            <a:gdLst/>
            <a:ahLst/>
            <a:cxnLst/>
            <a:rect l="l" t="t" r="r" b="b"/>
            <a:pathLst>
              <a:path w="982286" h="969784">
                <a:moveTo>
                  <a:pt x="0" y="0"/>
                </a:moveTo>
                <a:lnTo>
                  <a:pt x="982286" y="0"/>
                </a:lnTo>
                <a:lnTo>
                  <a:pt x="982286" y="969785"/>
                </a:lnTo>
                <a:lnTo>
                  <a:pt x="0" y="969785"/>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rnd">
            <a:noFill/>
            <a:prstDash val="solid"/>
            <a:round/>
          </a:ln>
        </p:spPr>
      </p:sp>
      <p:sp>
        <p:nvSpPr>
          <p:cNvPr id="8" name="Freeform 8"/>
          <p:cNvSpPr>
            <a:spLocks noGrp="1"/>
          </p:cNvSpPr>
          <p:nvPr/>
        </p:nvSpPr>
        <p:spPr>
          <a:xfrm flipH="1">
            <a:off x="451977" y="2084480"/>
            <a:ext cx="5472684" cy="8229600"/>
          </a:xfrm>
          <a:custGeom>
            <a:avLst/>
            <a:gdLst/>
            <a:ahLst/>
            <a:cxnLst/>
            <a:rect l="l" t="t" r="r" b="b"/>
            <a:pathLst>
              <a:path w="5472684" h="8229600">
                <a:moveTo>
                  <a:pt x="5472684" y="0"/>
                </a:moveTo>
                <a:lnTo>
                  <a:pt x="0" y="0"/>
                </a:lnTo>
                <a:lnTo>
                  <a:pt x="0" y="8229600"/>
                </a:lnTo>
                <a:lnTo>
                  <a:pt x="5472684" y="8229600"/>
                </a:lnTo>
                <a:lnTo>
                  <a:pt x="5472684" y="0"/>
                </a:lnTo>
                <a:close/>
              </a:path>
            </a:pathLst>
          </a:custGeom>
          <a:blipFill>
            <a:blip r:embed="rId7"/>
            <a:stretch>
              <a:fillRect/>
            </a:stretch>
          </a:blipFill>
        </p:spPr>
      </p:sp>
      <p:sp>
        <p:nvSpPr>
          <p:cNvPr id="9" name="Freeform 9"/>
          <p:cNvSpPr>
            <a:spLocks noGrp="1"/>
          </p:cNvSpPr>
          <p:nvPr/>
        </p:nvSpPr>
        <p:spPr>
          <a:xfrm>
            <a:off x="13355076" y="1897174"/>
            <a:ext cx="3703320" cy="8229600"/>
          </a:xfrm>
          <a:custGeom>
            <a:avLst/>
            <a:gdLst/>
            <a:ahLst/>
            <a:cxnLst/>
            <a:rect l="l" t="t" r="r" b="b"/>
            <a:pathLst>
              <a:path w="3703320" h="8229600">
                <a:moveTo>
                  <a:pt x="0" y="0"/>
                </a:moveTo>
                <a:lnTo>
                  <a:pt x="3703320" y="0"/>
                </a:lnTo>
                <a:lnTo>
                  <a:pt x="3703320" y="8229600"/>
                </a:lnTo>
                <a:lnTo>
                  <a:pt x="0" y="8229600"/>
                </a:lnTo>
                <a:lnTo>
                  <a:pt x="0" y="0"/>
                </a:lnTo>
                <a:close/>
              </a:path>
            </a:pathLst>
          </a:custGeom>
          <a:blipFill>
            <a:blip r:embed="rId8"/>
            <a:stretch>
              <a:fillRect/>
            </a:stretch>
          </a:blipFill>
        </p:spPr>
      </p:sp>
      <p:sp>
        <p:nvSpPr>
          <p:cNvPr id="10" name="TextBox 10"/>
          <p:cNvSpPr>
            <a:spLocks noGrp="1"/>
          </p:cNvSpPr>
          <p:nvPr/>
        </p:nvSpPr>
        <p:spPr>
          <a:xfrm>
            <a:off x="4648200" y="1562100"/>
            <a:ext cx="9163050" cy="4427855"/>
          </a:xfrm>
          <a:prstGeom prst="rect">
            <a:avLst/>
          </a:prstGeom>
        </p:spPr>
        <p:txBody>
          <a:bodyPr wrap="square" lIns="0" tIns="0" rIns="0" bIns="0" anchor="t">
            <a:spAutoFit/>
          </a:bodyPr>
          <a:lstStyle/>
          <a:p>
            <a:pPr algn="ctr">
              <a:lnSpc>
                <a:spcPts val="11510"/>
              </a:lnSpc>
              <a:buNone/>
            </a:pPr>
            <a:r>
              <a:rPr lang="en-US" sz="13545">
                <a:solidFill>
                  <a:srgbClr val="000000"/>
                </a:solidFill>
                <a:latin typeface="Segoe UI"/>
                <a:ea typeface="Segoe UI"/>
                <a:cs typeface="Segoe UI"/>
              </a:rPr>
              <a:t>Your Value is Undefined</a:t>
            </a:r>
            <a:endParaRPr lang="en-US" sz="13545">
              <a:solidFill>
                <a:srgbClr val="000000"/>
              </a:solidFill>
              <a:latin typeface="Segoe UI"/>
              <a:ea typeface="Segoe UI"/>
              <a:cs typeface="Segoe UI"/>
            </a:endParaRPr>
          </a:p>
        </p:txBody>
      </p:sp>
      <p:sp>
        <p:nvSpPr>
          <p:cNvPr id="11" name="TextBox 10"/>
          <p:cNvSpPr txBox="1"/>
          <p:nvPr/>
        </p:nvSpPr>
        <p:spPr>
          <a:xfrm>
            <a:off x="1371600" y="7452360"/>
            <a:ext cx="15544800" cy="1097280"/>
          </a:xfrm>
          <a:prstGeom prst="rect">
            <a:avLst/>
          </a:prstGeom>
          <a:noFill/>
        </p:spPr>
        <p:txBody>
          <a:bodyPr wrap="square">
            <a:spAutoFit/>
          </a:bodyPr>
          <a:lstStyle/>
          <a:p>
            <a:pPr algn="ctr"/>
            <a:r>
              <a:rPr sz="2600" b="1" u="none">
                <a:solidFill>
                  <a:srgbClr val="2D6B57"/>
                </a:solidFill>
                <a:latin typeface="Segoe UI"/>
              </a:rPr>
              <a:t>Try it live:  aicareer.replit.app</a:t>
            </a:r>
          </a:p>
          <a:p>
            <a:pPr algn="ctr"/>
            <a:r>
              <a:rPr sz="2000">
                <a:solidFill>
                  <a:srgbClr val="2D6B57"/>
                </a:solidFill>
                <a:latin typeface="Segoe UI"/>
              </a:rPr>
              <a:t>Team 418 I’m a teapot   ·   SDC 2026, Domain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a:spLocks noGrp="1"/>
          </p:cNvSpPr>
          <p:nvPr/>
        </p:nvSpPr>
        <p:spPr>
          <a:xfrm rot="-9232430">
            <a:off x="3930127" y="8028259"/>
            <a:ext cx="4764885" cy="3144824"/>
          </a:xfrm>
          <a:custGeom>
            <a:avLst/>
            <a:gdLst/>
            <a:ahLst/>
            <a:cxnLst/>
            <a:rect l="l" t="t" r="r" b="b"/>
            <a:pathLst>
              <a:path w="4764885" h="3144824">
                <a:moveTo>
                  <a:pt x="0" y="0"/>
                </a:moveTo>
                <a:lnTo>
                  <a:pt x="4764885" y="0"/>
                </a:lnTo>
                <a:lnTo>
                  <a:pt x="4764885" y="3144824"/>
                </a:lnTo>
                <a:lnTo>
                  <a:pt x="0" y="31448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a:spLocks noGrp="1"/>
          </p:cNvSpPr>
          <p:nvPr/>
        </p:nvSpPr>
        <p:spPr>
          <a:xfrm rot="-9232430">
            <a:off x="14309403" y="-989419"/>
            <a:ext cx="4787664" cy="3159858"/>
          </a:xfrm>
          <a:custGeom>
            <a:avLst/>
            <a:gdLst/>
            <a:ahLst/>
            <a:cxnLst/>
            <a:rect l="l" t="t" r="r" b="b"/>
            <a:pathLst>
              <a:path w="4787664" h="3159858">
                <a:moveTo>
                  <a:pt x="0" y="0"/>
                </a:moveTo>
                <a:lnTo>
                  <a:pt x="4787664" y="0"/>
                </a:lnTo>
                <a:lnTo>
                  <a:pt x="4787664" y="3159859"/>
                </a:lnTo>
                <a:lnTo>
                  <a:pt x="0" y="31598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a:spLocks noGrp="1"/>
          </p:cNvSpPr>
          <p:nvPr/>
        </p:nvSpPr>
        <p:spPr>
          <a:xfrm>
            <a:off x="9214055" y="1461806"/>
            <a:ext cx="8047931" cy="2210896"/>
          </a:xfrm>
          <a:custGeom>
            <a:avLst/>
            <a:gdLst/>
            <a:ahLst/>
            <a:cxnLst/>
            <a:rect l="l" t="t" r="r" b="b"/>
            <a:pathLst>
              <a:path w="2512466" h="690215">
                <a:moveTo>
                  <a:pt x="49061" y="0"/>
                </a:moveTo>
                <a:lnTo>
                  <a:pt x="2463405" y="0"/>
                </a:lnTo>
                <a:cubicBezTo>
                  <a:pt x="2476416" y="0"/>
                  <a:pt x="2488895" y="5169"/>
                  <a:pt x="2498096" y="14370"/>
                </a:cubicBezTo>
                <a:cubicBezTo>
                  <a:pt x="2507297" y="23570"/>
                  <a:pt x="2512466" y="36049"/>
                  <a:pt x="2512466" y="49061"/>
                </a:cubicBezTo>
                <a:lnTo>
                  <a:pt x="2512466" y="641154"/>
                </a:lnTo>
                <a:cubicBezTo>
                  <a:pt x="2512466" y="668249"/>
                  <a:pt x="2490500" y="690215"/>
                  <a:pt x="2463405" y="690215"/>
                </a:cubicBezTo>
                <a:lnTo>
                  <a:pt x="49061" y="690215"/>
                </a:lnTo>
                <a:cubicBezTo>
                  <a:pt x="36049" y="690215"/>
                  <a:pt x="23570" y="685046"/>
                  <a:pt x="14370" y="675845"/>
                </a:cubicBezTo>
                <a:cubicBezTo>
                  <a:pt x="5169" y="666644"/>
                  <a:pt x="0" y="654166"/>
                  <a:pt x="0" y="641154"/>
                </a:cubicBezTo>
                <a:lnTo>
                  <a:pt x="0" y="49061"/>
                </a:lnTo>
                <a:cubicBezTo>
                  <a:pt x="0" y="21965"/>
                  <a:pt x="21965" y="0"/>
                  <a:pt x="49061" y="0"/>
                </a:cubicBezTo>
                <a:close/>
              </a:path>
            </a:pathLst>
          </a:custGeom>
          <a:solidFill>
            <a:srgbClr val="F14975"/>
          </a:solidFill>
        </p:spPr>
      </p:sp>
      <p:sp>
        <p:nvSpPr>
          <p:cNvPr id="6" name="TextBox 6"/>
          <p:cNvSpPr>
            <a:spLocks noGrp="1"/>
          </p:cNvSpPr>
          <p:nvPr/>
        </p:nvSpPr>
        <p:spPr>
          <a:xfrm>
            <a:off x="9214055" y="1339765"/>
            <a:ext cx="8047931" cy="2332937"/>
          </a:xfrm>
          <a:prstGeom prst="rect">
            <a:avLst/>
          </a:prstGeom>
        </p:spPr>
        <p:txBody>
          <a:bodyPr lIns="50800" tIns="50800" rIns="50800" bIns="50800" anchor="ctr"/>
          <a:lstStyle/>
          <a:p>
            <a:pPr algn="ctr">
              <a:lnSpc>
                <a:spcPts val="2660"/>
              </a:lnSpc>
              <a:buNone/>
            </a:pPr>
          </a:p>
        </p:txBody>
      </p:sp>
      <p:sp>
        <p:nvSpPr>
          <p:cNvPr id="7" name="Freeform 7"/>
          <p:cNvSpPr>
            <a:spLocks noGrp="1"/>
          </p:cNvSpPr>
          <p:nvPr/>
        </p:nvSpPr>
        <p:spPr>
          <a:xfrm rot="-2017032">
            <a:off x="17133199" y="8912557"/>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a:spLocks noGrp="1"/>
          </p:cNvSpPr>
          <p:nvPr/>
        </p:nvSpPr>
        <p:spPr>
          <a:xfrm rot="-2017032">
            <a:off x="6831140" y="747485"/>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a:spLocks noGrp="1"/>
          </p:cNvSpPr>
          <p:nvPr/>
        </p:nvSpPr>
        <p:spPr>
          <a:xfrm>
            <a:off x="684965" y="2095597"/>
            <a:ext cx="7077456" cy="8229600"/>
          </a:xfrm>
          <a:custGeom>
            <a:avLst/>
            <a:gdLst/>
            <a:ahLst/>
            <a:cxnLst/>
            <a:rect l="l" t="t" r="r" b="b"/>
            <a:pathLst>
              <a:path w="7077456" h="8229600">
                <a:moveTo>
                  <a:pt x="0" y="0"/>
                </a:moveTo>
                <a:lnTo>
                  <a:pt x="7077456" y="0"/>
                </a:lnTo>
                <a:lnTo>
                  <a:pt x="7077456" y="8229600"/>
                </a:lnTo>
                <a:lnTo>
                  <a:pt x="0" y="8229600"/>
                </a:lnTo>
                <a:lnTo>
                  <a:pt x="0" y="0"/>
                </a:lnTo>
                <a:close/>
              </a:path>
            </a:pathLst>
          </a:custGeom>
          <a:blipFill>
            <a:blip r:embed="rId6"/>
            <a:stretch>
              <a:fillRect/>
            </a:stretch>
          </a:blipFill>
        </p:spPr>
      </p:sp>
      <p:sp>
        <p:nvSpPr>
          <p:cNvPr id="10" name="TextBox 10"/>
          <p:cNvSpPr>
            <a:spLocks noGrp="1"/>
          </p:cNvSpPr>
          <p:nvPr/>
        </p:nvSpPr>
        <p:spPr>
          <a:xfrm>
            <a:off x="252758" y="114199"/>
            <a:ext cx="7942514" cy="2437765"/>
          </a:xfrm>
          <a:prstGeom prst="rect">
            <a:avLst/>
          </a:prstGeom>
        </p:spPr>
        <p:txBody>
          <a:bodyPr lIns="0" tIns="0" rIns="0" bIns="0" anchor="ctr"/>
          <a:lstStyle/>
          <a:p>
            <a:pPr algn="l">
              <a:lnSpc>
                <a:spcPts val="9505"/>
              </a:lnSpc>
              <a:buNone/>
            </a:pPr>
            <a:r>
              <a:rPr lang="en-US" sz="11180" b="0">
                <a:solidFill>
                  <a:srgbClr val="000000"/>
                </a:solidFill>
                <a:latin typeface="Segoe UI"/>
                <a:ea typeface="Segoe UI"/>
                <a:cs typeface="Segoe UI"/>
              </a:rPr>
              <a:t>Inside</a:t>
            </a:r>
          </a:p>
          <a:p>
            <a:pPr algn="l">
              <a:lnSpc>
                <a:spcPts val="9505"/>
              </a:lnSpc>
              <a:buNone/>
            </a:pPr>
            <a:r>
              <a:rPr lang="en-US" sz="11180" b="0">
                <a:solidFill>
                  <a:srgbClr val="000000"/>
                </a:solidFill>
                <a:latin typeface="Segoe UI"/>
                <a:ea typeface="Segoe UI"/>
                <a:cs typeface="Segoe UI"/>
              </a:rPr>
              <a:t>the Build</a:t>
            </a:r>
          </a:p>
        </p:txBody>
      </p:sp>
      <p:sp>
        <p:nvSpPr>
          <p:cNvPr id="12" name="TextBox 12"/>
          <p:cNvSpPr>
            <a:spLocks noGrp="1"/>
          </p:cNvSpPr>
          <p:nvPr/>
        </p:nvSpPr>
        <p:spPr>
          <a:xfrm>
            <a:off x="10095778" y="1190650"/>
            <a:ext cx="6284485" cy="1975104"/>
          </a:xfrm>
          <a:prstGeom prst="rect">
            <a:avLst/>
          </a:prstGeom>
        </p:spPr>
        <p:txBody>
          <a:bodyPr lIns="0" tIns="0" rIns="0" bIns="0" anchor="ctr"/>
          <a:lstStyle/>
          <a:p>
            <a:pPr algn="l">
              <a:lnSpc>
                <a:spcPts val="2230"/>
              </a:lnSpc>
              <a:buNone/>
            </a:pPr>
            <a:r>
              <a:rPr sz="1900" b="1">
                <a:solidFill>
                  <a:srgbClr val="FFFFFF"/>
                </a:solidFill>
                <a:latin typeface="Segoe UI"/>
                <a:ea typeface="Segoe UI"/>
                <a:cs typeface="Segoe UI"/>
              </a:rPr>
              <a:t>Frontend</a:t>
            </a:r>
          </a:p>
          <a:p>
            <a:pPr algn="l">
              <a:lnSpc>
                <a:spcPts val="2230"/>
              </a:lnSpc>
              <a:spcBef>
                <a:spcPts val="600"/>
              </a:spcBef>
              <a:buNone/>
            </a:pPr>
            <a:r>
              <a:rPr sz="1550" b="0">
                <a:solidFill>
                  <a:srgbClr val="FFFFFF"/>
                </a:solidFill>
                <a:latin typeface="Segoe UI"/>
                <a:ea typeface="Segoe UI"/>
                <a:cs typeface="Segoe UI"/>
              </a:rPr>
              <a:t>Native ES modules and no build step. Self-escaping templates, a hash router and hand-written SVG charts; one API facade switches between the live service and an offline demo.</a:t>
            </a:r>
          </a:p>
        </p:txBody>
      </p:sp>
      <p:sp>
        <p:nvSpPr>
          <p:cNvPr id="14" name="Freeform 14"/>
          <p:cNvSpPr>
            <a:spLocks noGrp="1"/>
          </p:cNvSpPr>
          <p:nvPr/>
        </p:nvSpPr>
        <p:spPr>
          <a:xfrm>
            <a:off x="9214055" y="4038052"/>
            <a:ext cx="8047931" cy="2210896"/>
          </a:xfrm>
          <a:custGeom>
            <a:avLst/>
            <a:gdLst/>
            <a:ahLst/>
            <a:cxnLst/>
            <a:rect l="l" t="t" r="r" b="b"/>
            <a:pathLst>
              <a:path w="2512466" h="690215">
                <a:moveTo>
                  <a:pt x="49061" y="0"/>
                </a:moveTo>
                <a:lnTo>
                  <a:pt x="2463405" y="0"/>
                </a:lnTo>
                <a:cubicBezTo>
                  <a:pt x="2476416" y="0"/>
                  <a:pt x="2488895" y="5169"/>
                  <a:pt x="2498096" y="14370"/>
                </a:cubicBezTo>
                <a:cubicBezTo>
                  <a:pt x="2507297" y="23570"/>
                  <a:pt x="2512466" y="36049"/>
                  <a:pt x="2512466" y="49061"/>
                </a:cubicBezTo>
                <a:lnTo>
                  <a:pt x="2512466" y="641154"/>
                </a:lnTo>
                <a:cubicBezTo>
                  <a:pt x="2512466" y="668249"/>
                  <a:pt x="2490500" y="690215"/>
                  <a:pt x="2463405" y="690215"/>
                </a:cubicBezTo>
                <a:lnTo>
                  <a:pt x="49061" y="690215"/>
                </a:lnTo>
                <a:cubicBezTo>
                  <a:pt x="36049" y="690215"/>
                  <a:pt x="23570" y="685046"/>
                  <a:pt x="14370" y="675845"/>
                </a:cubicBezTo>
                <a:cubicBezTo>
                  <a:pt x="5169" y="666644"/>
                  <a:pt x="0" y="654166"/>
                  <a:pt x="0" y="641154"/>
                </a:cubicBezTo>
                <a:lnTo>
                  <a:pt x="0" y="49061"/>
                </a:lnTo>
                <a:cubicBezTo>
                  <a:pt x="0" y="21965"/>
                  <a:pt x="21965" y="0"/>
                  <a:pt x="49061" y="0"/>
                </a:cubicBezTo>
                <a:close/>
              </a:path>
            </a:pathLst>
          </a:custGeom>
          <a:solidFill>
            <a:srgbClr val="F14975"/>
          </a:solidFill>
        </p:spPr>
      </p:sp>
      <p:sp>
        <p:nvSpPr>
          <p:cNvPr id="15" name="TextBox 15"/>
          <p:cNvSpPr>
            <a:spLocks noGrp="1"/>
          </p:cNvSpPr>
          <p:nvPr/>
        </p:nvSpPr>
        <p:spPr>
          <a:xfrm>
            <a:off x="9214055" y="3916011"/>
            <a:ext cx="8047931" cy="2332937"/>
          </a:xfrm>
          <a:prstGeom prst="rect">
            <a:avLst/>
          </a:prstGeom>
        </p:spPr>
        <p:txBody>
          <a:bodyPr lIns="50800" tIns="50800" rIns="50800" bIns="50800" anchor="ctr"/>
          <a:lstStyle/>
          <a:p>
            <a:pPr algn="ctr">
              <a:lnSpc>
                <a:spcPts val="2660"/>
              </a:lnSpc>
              <a:buNone/>
            </a:pPr>
          </a:p>
        </p:txBody>
      </p:sp>
      <p:sp>
        <p:nvSpPr>
          <p:cNvPr id="16" name="TextBox 16"/>
          <p:cNvSpPr>
            <a:spLocks noGrp="1"/>
          </p:cNvSpPr>
          <p:nvPr/>
        </p:nvSpPr>
        <p:spPr>
          <a:xfrm>
            <a:off x="10095778" y="3766895"/>
            <a:ext cx="6284485" cy="1975104"/>
          </a:xfrm>
          <a:prstGeom prst="rect">
            <a:avLst/>
          </a:prstGeom>
        </p:spPr>
        <p:txBody>
          <a:bodyPr lIns="0" tIns="0" rIns="0" bIns="0" anchor="ctr"/>
          <a:lstStyle/>
          <a:p>
            <a:pPr algn="l">
              <a:lnSpc>
                <a:spcPts val="2230"/>
              </a:lnSpc>
              <a:buNone/>
            </a:pPr>
            <a:r>
              <a:rPr sz="1900" b="1">
                <a:solidFill>
                  <a:srgbClr val="FFFFFF"/>
                </a:solidFill>
                <a:latin typeface="Segoe UI"/>
                <a:ea typeface="Segoe UI"/>
                <a:cs typeface="Segoe UI"/>
              </a:rPr>
              <a:t>Data and API</a:t>
            </a:r>
          </a:p>
          <a:p>
            <a:pPr algn="l">
              <a:lnSpc>
                <a:spcPts val="2230"/>
              </a:lnSpc>
              <a:spcBef>
                <a:spcPts val="600"/>
              </a:spcBef>
              <a:buNone/>
            </a:pPr>
            <a:r>
              <a:rPr sz="1550" b="0">
                <a:solidFill>
                  <a:srgbClr val="FFFFFF"/>
                </a:solidFill>
                <a:latin typeface="Segoe UI"/>
                <a:ea typeface="Segoe UI"/>
                <a:cs typeface="Segoe UI"/>
              </a:rPr>
              <a:t>Python over SQLite: 23 skills, 12 roles, 3 scenarios, 37 learning modules, 20 dated signals from 21 sources. Every endpoint is pinned by an OpenAPI 3.1 contract.</a:t>
            </a:r>
          </a:p>
        </p:txBody>
      </p:sp>
      <p:sp>
        <p:nvSpPr>
          <p:cNvPr id="18" name="Freeform 18"/>
          <p:cNvSpPr>
            <a:spLocks noGrp="1"/>
          </p:cNvSpPr>
          <p:nvPr/>
        </p:nvSpPr>
        <p:spPr>
          <a:xfrm>
            <a:off x="9214055" y="6614297"/>
            <a:ext cx="8047931" cy="2210896"/>
          </a:xfrm>
          <a:custGeom>
            <a:avLst/>
            <a:gdLst/>
            <a:ahLst/>
            <a:cxnLst/>
            <a:rect l="l" t="t" r="r" b="b"/>
            <a:pathLst>
              <a:path w="2512466" h="690215">
                <a:moveTo>
                  <a:pt x="49061" y="0"/>
                </a:moveTo>
                <a:lnTo>
                  <a:pt x="2463405" y="0"/>
                </a:lnTo>
                <a:cubicBezTo>
                  <a:pt x="2476416" y="0"/>
                  <a:pt x="2488895" y="5169"/>
                  <a:pt x="2498096" y="14370"/>
                </a:cubicBezTo>
                <a:cubicBezTo>
                  <a:pt x="2507297" y="23570"/>
                  <a:pt x="2512466" y="36049"/>
                  <a:pt x="2512466" y="49061"/>
                </a:cubicBezTo>
                <a:lnTo>
                  <a:pt x="2512466" y="641154"/>
                </a:lnTo>
                <a:cubicBezTo>
                  <a:pt x="2512466" y="668249"/>
                  <a:pt x="2490500" y="690215"/>
                  <a:pt x="2463405" y="690215"/>
                </a:cubicBezTo>
                <a:lnTo>
                  <a:pt x="49061" y="690215"/>
                </a:lnTo>
                <a:cubicBezTo>
                  <a:pt x="36049" y="690215"/>
                  <a:pt x="23570" y="685046"/>
                  <a:pt x="14370" y="675845"/>
                </a:cubicBezTo>
                <a:cubicBezTo>
                  <a:pt x="5169" y="666644"/>
                  <a:pt x="0" y="654166"/>
                  <a:pt x="0" y="641154"/>
                </a:cubicBezTo>
                <a:lnTo>
                  <a:pt x="0" y="49061"/>
                </a:lnTo>
                <a:cubicBezTo>
                  <a:pt x="0" y="21965"/>
                  <a:pt x="21965" y="0"/>
                  <a:pt x="49061" y="0"/>
                </a:cubicBezTo>
                <a:close/>
              </a:path>
            </a:pathLst>
          </a:custGeom>
          <a:solidFill>
            <a:srgbClr val="F14975"/>
          </a:solidFill>
        </p:spPr>
      </p:sp>
      <p:sp>
        <p:nvSpPr>
          <p:cNvPr id="19" name="TextBox 19"/>
          <p:cNvSpPr>
            <a:spLocks noGrp="1"/>
          </p:cNvSpPr>
          <p:nvPr/>
        </p:nvSpPr>
        <p:spPr>
          <a:xfrm>
            <a:off x="9214055" y="6492256"/>
            <a:ext cx="8047931" cy="2332937"/>
          </a:xfrm>
          <a:prstGeom prst="rect">
            <a:avLst/>
          </a:prstGeom>
        </p:spPr>
        <p:txBody>
          <a:bodyPr lIns="50800" tIns="50800" rIns="50800" bIns="50800" anchor="ctr"/>
          <a:lstStyle/>
          <a:p>
            <a:pPr algn="ctr">
              <a:lnSpc>
                <a:spcPts val="2660"/>
              </a:lnSpc>
              <a:buNone/>
            </a:pPr>
          </a:p>
        </p:txBody>
      </p:sp>
      <p:sp>
        <p:nvSpPr>
          <p:cNvPr id="20" name="TextBox 20"/>
          <p:cNvSpPr>
            <a:spLocks noGrp="1"/>
          </p:cNvSpPr>
          <p:nvPr/>
        </p:nvSpPr>
        <p:spPr>
          <a:xfrm>
            <a:off x="10095778" y="6343140"/>
            <a:ext cx="6284485" cy="1975104"/>
          </a:xfrm>
          <a:prstGeom prst="rect">
            <a:avLst/>
          </a:prstGeom>
        </p:spPr>
        <p:txBody>
          <a:bodyPr lIns="0" tIns="0" rIns="0" bIns="0" anchor="ctr"/>
          <a:lstStyle/>
          <a:p>
            <a:pPr algn="l">
              <a:lnSpc>
                <a:spcPts val="2230"/>
              </a:lnSpc>
              <a:buNone/>
            </a:pPr>
            <a:r>
              <a:rPr sz="1900" b="1">
                <a:solidFill>
                  <a:srgbClr val="FFFFFF"/>
                </a:solidFill>
                <a:latin typeface="Segoe UI"/>
                <a:ea typeface="Segoe UI"/>
                <a:cs typeface="Segoe UI"/>
              </a:rPr>
              <a:t>AI layer</a:t>
            </a:r>
          </a:p>
          <a:p>
            <a:pPr algn="l">
              <a:lnSpc>
                <a:spcPts val="2230"/>
              </a:lnSpc>
              <a:spcBef>
                <a:spcPts val="600"/>
              </a:spcBef>
              <a:buNone/>
            </a:pPr>
            <a:r>
              <a:rPr sz="1550" b="0">
                <a:solidFill>
                  <a:srgbClr val="FFFFFF"/>
                </a:solidFill>
                <a:latin typeface="Segoe UI"/>
                <a:ea typeface="Segoe UI"/>
                <a:cs typeface="Segoe UI"/>
              </a:rPr>
              <a:t>Briefings are composed server-side and streamed as Server-Sent Events, so model keys never reach the browser. Scoring itself stays deterministic and inspectable.</a:t>
            </a:r>
          </a:p>
        </p:txBody>
      </p:sp>
      <p:sp>
        <p:nvSpPr>
          <p:cNvPr id="21" name="Freeform 21"/>
          <p:cNvSpPr>
            <a:spLocks noGrp="1"/>
          </p:cNvSpPr>
          <p:nvPr/>
        </p:nvSpPr>
        <p:spPr>
          <a:xfrm>
            <a:off x="9011077" y="2525228"/>
            <a:ext cx="22205" cy="2780700"/>
          </a:xfrm>
          <a:custGeom>
            <a:avLst/>
            <a:gdLst/>
            <a:ahLst/>
            <a:cxnLst/>
            <a:rect l="l" t="t" r="r" b="b"/>
            <a:pathLst>
              <a:path w="22205" h="2780700">
                <a:moveTo>
                  <a:pt x="0" y="2780700"/>
                </a:moveTo>
                <a:lnTo>
                  <a:pt x="0" y="1401452"/>
                </a:lnTo>
                <a:cubicBezTo>
                  <a:pt x="0" y="1398508"/>
                  <a:pt x="1170" y="1395683"/>
                  <a:pt x="3252" y="1393601"/>
                </a:cubicBezTo>
                <a:cubicBezTo>
                  <a:pt x="5334" y="1391519"/>
                  <a:pt x="8158" y="1390350"/>
                  <a:pt x="11103" y="1390350"/>
                </a:cubicBezTo>
                <a:lnTo>
                  <a:pt x="11103" y="1390350"/>
                </a:lnTo>
                <a:cubicBezTo>
                  <a:pt x="14047" y="1390350"/>
                  <a:pt x="16871" y="1389180"/>
                  <a:pt x="18953" y="1387098"/>
                </a:cubicBezTo>
                <a:cubicBezTo>
                  <a:pt x="21035" y="1385016"/>
                  <a:pt x="22205" y="1382192"/>
                  <a:pt x="22205" y="1379247"/>
                </a:cubicBezTo>
                <a:lnTo>
                  <a:pt x="22205" y="0"/>
                </a:lnTo>
              </a:path>
            </a:pathLst>
          </a:custGeom>
          <a:ln w="38100" cap="flat">
            <a:solidFill>
              <a:srgbClr val="000000"/>
            </a:solidFill>
            <a:prstDash val="solid"/>
            <a:headEnd type="none" w="sm" len="sm"/>
            <a:tailEnd type="none" w="sm" len="sm"/>
          </a:ln>
        </p:spPr>
      </p:sp>
      <p:sp>
        <p:nvSpPr>
          <p:cNvPr id="22" name="Freeform 22"/>
          <p:cNvSpPr>
            <a:spLocks noGrp="1"/>
          </p:cNvSpPr>
          <p:nvPr/>
        </p:nvSpPr>
        <p:spPr>
          <a:xfrm>
            <a:off x="17284860" y="5101473"/>
            <a:ext cx="130490" cy="2766198"/>
          </a:xfrm>
          <a:custGeom>
            <a:avLst/>
            <a:gdLst/>
            <a:ahLst/>
            <a:cxnLst/>
            <a:rect l="l" t="t" r="r" b="b"/>
            <a:pathLst>
              <a:path w="130490" h="2766198">
                <a:moveTo>
                  <a:pt x="0" y="2766198"/>
                </a:moveTo>
                <a:lnTo>
                  <a:pt x="0" y="1448344"/>
                </a:lnTo>
                <a:cubicBezTo>
                  <a:pt x="0" y="1412310"/>
                  <a:pt x="29210" y="1383099"/>
                  <a:pt x="65245" y="1383099"/>
                </a:cubicBezTo>
                <a:lnTo>
                  <a:pt x="65245" y="1383099"/>
                </a:lnTo>
                <a:cubicBezTo>
                  <a:pt x="101279" y="1383099"/>
                  <a:pt x="130489" y="1353888"/>
                  <a:pt x="130489" y="1317854"/>
                </a:cubicBezTo>
                <a:lnTo>
                  <a:pt x="130489" y="0"/>
                </a:lnTo>
              </a:path>
            </a:pathLst>
          </a:custGeom>
          <a:ln w="38100" cap="flat">
            <a:solidFill>
              <a:srgbClr val="000000"/>
            </a:solidFill>
            <a:prstDash val="solid"/>
            <a:headEnd type="none" w="sm" len="sm"/>
            <a:tailEnd type="none" w="sm" len="sm"/>
          </a:ln>
        </p:spPr>
      </p:sp>
      <p:sp>
        <p:nvSpPr>
          <p:cNvPr id="23" name="Freeform 23"/>
          <p:cNvSpPr>
            <a:spLocks noGrp="1"/>
          </p:cNvSpPr>
          <p:nvPr/>
        </p:nvSpPr>
        <p:spPr>
          <a:xfrm>
            <a:off x="7786491" y="7304430"/>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rnd">
            <a:noFill/>
            <a:prstDash val="solid"/>
            <a:round/>
          </a:ln>
        </p:spPr>
      </p:sp>
      <p:sp>
        <p:nvSpPr>
          <p:cNvPr id="24" name="Freeform 24"/>
          <p:cNvSpPr>
            <a:spLocks noGrp="1"/>
          </p:cNvSpPr>
          <p:nvPr/>
        </p:nvSpPr>
        <p:spPr>
          <a:xfrm>
            <a:off x="567229" y="7677718"/>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rnd">
            <a:noFill/>
            <a:prstDash val="solid"/>
            <a:round/>
          </a:ln>
        </p:spPr>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a:spLocks noGrp="1"/>
          </p:cNvSpPr>
          <p:nvPr/>
        </p:nvSpPr>
        <p:spPr>
          <a:xfrm>
            <a:off x="1028700" y="5074492"/>
            <a:ext cx="922942" cy="911196"/>
          </a:xfrm>
          <a:custGeom>
            <a:avLst/>
            <a:gdLst/>
            <a:ahLst/>
            <a:cxnLst/>
            <a:rect l="l" t="t" r="r" b="b"/>
            <a:pathLst>
              <a:path w="922942" h="911196">
                <a:moveTo>
                  <a:pt x="0" y="0"/>
                </a:moveTo>
                <a:lnTo>
                  <a:pt x="922942" y="0"/>
                </a:lnTo>
                <a:lnTo>
                  <a:pt x="922942" y="911195"/>
                </a:lnTo>
                <a:lnTo>
                  <a:pt x="0" y="91119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rnd">
            <a:noFill/>
            <a:prstDash val="solid"/>
            <a:round/>
          </a:ln>
        </p:spPr>
      </p:sp>
      <p:sp>
        <p:nvSpPr>
          <p:cNvPr id="3" name="Freeform 3"/>
          <p:cNvSpPr>
            <a:spLocks noGrp="1"/>
          </p:cNvSpPr>
          <p:nvPr/>
        </p:nvSpPr>
        <p:spPr>
          <a:xfrm rot="-2017032">
            <a:off x="9064467" y="477337"/>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a:spLocks noGrp="1"/>
          </p:cNvSpPr>
          <p:nvPr/>
        </p:nvSpPr>
        <p:spPr>
          <a:xfrm rot="-8678342" flipH="1">
            <a:off x="13562732" y="-8285"/>
            <a:ext cx="5798392" cy="3826938"/>
          </a:xfrm>
          <a:custGeom>
            <a:avLst/>
            <a:gdLst/>
            <a:ahLst/>
            <a:cxnLst/>
            <a:rect l="l" t="t" r="r" b="b"/>
            <a:pathLst>
              <a:path w="5798392" h="3826938">
                <a:moveTo>
                  <a:pt x="5798392" y="0"/>
                </a:moveTo>
                <a:lnTo>
                  <a:pt x="0" y="0"/>
                </a:lnTo>
                <a:lnTo>
                  <a:pt x="0" y="3826939"/>
                </a:lnTo>
                <a:lnTo>
                  <a:pt x="5798392" y="3826939"/>
                </a:lnTo>
                <a:lnTo>
                  <a:pt x="5798392"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a:spLocks noGrp="1"/>
          </p:cNvSpPr>
          <p:nvPr/>
        </p:nvSpPr>
        <p:spPr>
          <a:xfrm>
            <a:off x="1028700" y="2610721"/>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rnd">
            <a:noFill/>
            <a:prstDash val="solid"/>
            <a:round/>
          </a:ln>
        </p:spPr>
      </p:sp>
      <p:sp>
        <p:nvSpPr>
          <p:cNvPr id="6" name="TextBox 6"/>
          <p:cNvSpPr>
            <a:spLocks noGrp="1"/>
          </p:cNvSpPr>
          <p:nvPr/>
        </p:nvSpPr>
        <p:spPr>
          <a:xfrm>
            <a:off x="908485" y="7574339"/>
            <a:ext cx="16270770" cy="1550670"/>
          </a:xfrm>
          <a:prstGeom prst="rect">
            <a:avLst/>
          </a:prstGeom>
        </p:spPr>
        <p:txBody>
          <a:bodyPr lIns="0" tIns="0" rIns="0" bIns="0" anchor="ctr"/>
          <a:lstStyle/>
          <a:p>
            <a:pPr algn="l">
              <a:lnSpc>
                <a:spcPts val="12095"/>
              </a:lnSpc>
              <a:buNone/>
            </a:pPr>
            <a:r>
              <a:rPr lang="en-US" sz="14230" b="0">
                <a:solidFill>
                  <a:srgbClr val="000000"/>
                </a:solidFill>
                <a:latin typeface="Segoe UI"/>
                <a:ea typeface="Segoe UI"/>
                <a:cs typeface="Segoe UI"/>
              </a:rPr>
              <a:t>Evidence First</a:t>
            </a:r>
          </a:p>
        </p:txBody>
      </p:sp>
      <p:sp>
        <p:nvSpPr>
          <p:cNvPr id="7" name="Freeform 7"/>
          <p:cNvSpPr>
            <a:spLocks noGrp="1"/>
          </p:cNvSpPr>
          <p:nvPr/>
        </p:nvSpPr>
        <p:spPr>
          <a:xfrm rot="-2017032">
            <a:off x="17129780" y="6872192"/>
            <a:ext cx="1148968" cy="1980980"/>
          </a:xfrm>
          <a:custGeom>
            <a:avLst/>
            <a:gdLst/>
            <a:ahLst/>
            <a:cxnLst/>
            <a:rect l="l" t="t" r="r" b="b"/>
            <a:pathLst>
              <a:path w="1148968" h="1980980">
                <a:moveTo>
                  <a:pt x="0" y="0"/>
                </a:moveTo>
                <a:lnTo>
                  <a:pt x="1148968" y="0"/>
                </a:lnTo>
                <a:lnTo>
                  <a:pt x="1148968" y="1980979"/>
                </a:lnTo>
                <a:lnTo>
                  <a:pt x="0" y="19809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a:spLocks noGrp="1"/>
          </p:cNvSpPr>
          <p:nvPr/>
        </p:nvSpPr>
        <p:spPr>
          <a:xfrm>
            <a:off x="11296525" y="1224914"/>
            <a:ext cx="4222570" cy="6302343"/>
          </a:xfrm>
          <a:custGeom>
            <a:avLst/>
            <a:gdLst/>
            <a:ahLst/>
            <a:cxnLst/>
            <a:rect l="l" t="t" r="r" b="b"/>
            <a:pathLst>
              <a:path w="4222570" h="6302343">
                <a:moveTo>
                  <a:pt x="0" y="0"/>
                </a:moveTo>
                <a:lnTo>
                  <a:pt x="4222570" y="0"/>
                </a:lnTo>
                <a:lnTo>
                  <a:pt x="4222570" y="6302343"/>
                </a:lnTo>
                <a:lnTo>
                  <a:pt x="0" y="6302343"/>
                </a:lnTo>
                <a:lnTo>
                  <a:pt x="0" y="0"/>
                </a:lnTo>
                <a:close/>
              </a:path>
            </a:pathLst>
          </a:custGeom>
          <a:blipFill>
            <a:blip r:embed="rId8"/>
            <a:stretch>
              <a:fillRect/>
            </a:stretch>
          </a:blipFill>
        </p:spPr>
      </p:sp>
      <p:sp>
        <p:nvSpPr>
          <p:cNvPr id="9" name="TextBox 9"/>
          <p:cNvSpPr>
            <a:spLocks noGrp="1"/>
          </p:cNvSpPr>
          <p:nvPr/>
        </p:nvSpPr>
        <p:spPr>
          <a:xfrm>
            <a:off x="908485" y="1162023"/>
            <a:ext cx="7315200" cy="503901"/>
          </a:xfrm>
          <a:prstGeom prst="rect">
            <a:avLst/>
          </a:prstGeom>
        </p:spPr>
        <p:txBody>
          <a:bodyPr lIns="0" tIns="0" rIns="0" bIns="0" anchor="ctr"/>
          <a:lstStyle/>
          <a:p>
            <a:pPr algn="l">
              <a:lnSpc>
                <a:spcPts val="4250"/>
              </a:lnSpc>
              <a:buNone/>
            </a:pPr>
            <a:r>
              <a:rPr sz="1800" b="0">
                <a:solidFill>
                  <a:srgbClr val="2D6B57"/>
                </a:solidFill>
                <a:latin typeface="Segoe UI"/>
                <a:ea typeface="Segoe UI"/>
                <a:cs typeface="Segoe UI"/>
              </a:rPr>
              <a:t>SOURCED  ·  INSPECTABLE  ·  OFFLINE</a:t>
            </a:r>
          </a:p>
        </p:txBody>
      </p:sp>
      <p:sp>
        <p:nvSpPr>
          <p:cNvPr id="10" name="TextBox 10"/>
          <p:cNvSpPr>
            <a:spLocks noGrp="1"/>
          </p:cNvSpPr>
          <p:nvPr/>
        </p:nvSpPr>
        <p:spPr>
          <a:xfrm>
            <a:off x="2283919" y="4864412"/>
            <a:ext cx="7274589" cy="1855375"/>
          </a:xfrm>
          <a:prstGeom prst="rect">
            <a:avLst/>
          </a:prstGeom>
        </p:spPr>
        <p:txBody>
          <a:bodyPr lIns="0" tIns="0" rIns="0" bIns="0" anchor="ctr"/>
          <a:lstStyle/>
          <a:p>
            <a:pPr algn="l">
              <a:lnSpc>
                <a:spcPts val="2965"/>
              </a:lnSpc>
              <a:buNone/>
            </a:pPr>
            <a:r>
              <a:rPr sz="2050" b="0">
                <a:solidFill>
                  <a:srgbClr val="111111"/>
                </a:solidFill>
                <a:latin typeface="Segoe UI"/>
                <a:ea typeface="Segoe UI"/>
                <a:cs typeface="Segoe UI"/>
              </a:rPr>
              <a:t>Scoring is transparent. Fit is the weighted overlap between your rated levels and each role’s required levels, adjusted for sector, experience and interests. The method is published in the app, and the same rules run offline — so a demo cannot drift from the product.</a:t>
            </a:r>
          </a:p>
        </p:txBody>
      </p:sp>
      <p:sp>
        <p:nvSpPr>
          <p:cNvPr id="11" name="TextBox 11"/>
          <p:cNvSpPr>
            <a:spLocks noGrp="1"/>
          </p:cNvSpPr>
          <p:nvPr/>
        </p:nvSpPr>
        <p:spPr>
          <a:xfrm>
            <a:off x="2283919" y="2568267"/>
            <a:ext cx="7274589" cy="1855375"/>
          </a:xfrm>
          <a:prstGeom prst="rect">
            <a:avLst/>
          </a:prstGeom>
        </p:spPr>
        <p:txBody>
          <a:bodyPr lIns="0" tIns="0" rIns="0" bIns="0" anchor="ctr"/>
          <a:lstStyle/>
          <a:p>
            <a:pPr algn="l">
              <a:lnSpc>
                <a:spcPts val="2965"/>
              </a:lnSpc>
              <a:buNone/>
            </a:pPr>
            <a:r>
              <a:rPr sz="2050" b="0">
                <a:solidFill>
                  <a:srgbClr val="111111"/>
                </a:solidFill>
                <a:latin typeface="Segoe UI"/>
                <a:ea typeface="Segoe UI"/>
                <a:cs typeface="Segoe UI"/>
              </a:rPr>
              <a:t>Every signal carries a publisher, a publication date and a source link: 20 records from 19 publishers, no undated trend claims. The prototype’s figures are modelled, and the interface says so on every screen instead of hiding it.</a:t>
            </a:r>
          </a:p>
        </p:txBody>
      </p:sp>
      <p:sp>
        <p:nvSpPr>
          <p:cNvPr id="12" name="Freeform 12"/>
          <p:cNvSpPr>
            <a:spLocks noGrp="1"/>
          </p:cNvSpPr>
          <p:nvPr/>
        </p:nvSpPr>
        <p:spPr>
          <a:xfrm>
            <a:off x="10835054" y="4232304"/>
            <a:ext cx="922942" cy="911196"/>
          </a:xfrm>
          <a:custGeom>
            <a:avLst/>
            <a:gdLst/>
            <a:ahLst/>
            <a:cxnLst/>
            <a:rect l="l" t="t" r="r" b="b"/>
            <a:pathLst>
              <a:path w="922942" h="911196">
                <a:moveTo>
                  <a:pt x="0" y="0"/>
                </a:moveTo>
                <a:lnTo>
                  <a:pt x="922942" y="0"/>
                </a:lnTo>
                <a:lnTo>
                  <a:pt x="922942" y="911196"/>
                </a:lnTo>
                <a:lnTo>
                  <a:pt x="0" y="911196"/>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rnd">
            <a:noFill/>
            <a:prstDash val="solid"/>
            <a:round/>
          </a:ln>
        </p:spPr>
      </p:sp>
      <p:sp>
        <p:nvSpPr>
          <p:cNvPr id="13" name="Freeform 13"/>
          <p:cNvSpPr>
            <a:spLocks noGrp="1"/>
          </p:cNvSpPr>
          <p:nvPr/>
        </p:nvSpPr>
        <p:spPr>
          <a:xfrm>
            <a:off x="16130996" y="4817845"/>
            <a:ext cx="922942" cy="911196"/>
          </a:xfrm>
          <a:custGeom>
            <a:avLst/>
            <a:gdLst/>
            <a:ahLst/>
            <a:cxnLst/>
            <a:rect l="l" t="t" r="r" b="b"/>
            <a:pathLst>
              <a:path w="922942" h="911196">
                <a:moveTo>
                  <a:pt x="0" y="0"/>
                </a:moveTo>
                <a:lnTo>
                  <a:pt x="922942" y="0"/>
                </a:lnTo>
                <a:lnTo>
                  <a:pt x="922942" y="911195"/>
                </a:lnTo>
                <a:lnTo>
                  <a:pt x="0" y="911195"/>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rnd">
            <a:noFill/>
            <a:prstDash val="solid"/>
            <a:round/>
          </a:ln>
        </p:spPr>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a:spLocks noGrp="1"/>
          </p:cNvSpPr>
          <p:nvPr/>
        </p:nvSpPr>
        <p:spPr>
          <a:xfrm rot="-9232430">
            <a:off x="-2208788" y="6033659"/>
            <a:ext cx="6234545" cy="4114800"/>
          </a:xfrm>
          <a:custGeom>
            <a:avLst/>
            <a:gdLst/>
            <a:ahLst/>
            <a:cxnLst/>
            <a:rect l="l" t="t" r="r" b="b"/>
            <a:pathLst>
              <a:path w="6234545" h="4114800">
                <a:moveTo>
                  <a:pt x="0" y="0"/>
                </a:moveTo>
                <a:lnTo>
                  <a:pt x="6234545" y="0"/>
                </a:lnTo>
                <a:lnTo>
                  <a:pt x="623454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a:spLocks noGrp="1"/>
          </p:cNvSpPr>
          <p:nvPr/>
        </p:nvSpPr>
        <p:spPr>
          <a:xfrm>
            <a:off x="9295269" y="3121273"/>
            <a:ext cx="8032098" cy="2764491"/>
          </a:xfrm>
          <a:custGeom>
            <a:avLst/>
            <a:gdLst/>
            <a:ahLst/>
            <a:cxnLst/>
            <a:rect l="l" t="t" r="r" b="b"/>
            <a:pathLst>
              <a:path w="2005386" h="690215">
                <a:moveTo>
                  <a:pt x="49158" y="0"/>
                </a:moveTo>
                <a:lnTo>
                  <a:pt x="1956229" y="0"/>
                </a:lnTo>
                <a:cubicBezTo>
                  <a:pt x="1983378" y="0"/>
                  <a:pt x="2005386" y="22009"/>
                  <a:pt x="2005386" y="49158"/>
                </a:cubicBezTo>
                <a:lnTo>
                  <a:pt x="2005386" y="641057"/>
                </a:lnTo>
                <a:cubicBezTo>
                  <a:pt x="2005386" y="668206"/>
                  <a:pt x="1983378" y="690215"/>
                  <a:pt x="1956229" y="690215"/>
                </a:cubicBezTo>
                <a:lnTo>
                  <a:pt x="49158" y="690215"/>
                </a:lnTo>
                <a:cubicBezTo>
                  <a:pt x="22009" y="690215"/>
                  <a:pt x="0" y="668206"/>
                  <a:pt x="0" y="641057"/>
                </a:cubicBezTo>
                <a:lnTo>
                  <a:pt x="0" y="49158"/>
                </a:lnTo>
                <a:cubicBezTo>
                  <a:pt x="0" y="22009"/>
                  <a:pt x="22009" y="0"/>
                  <a:pt x="49158" y="0"/>
                </a:cubicBezTo>
                <a:close/>
              </a:path>
            </a:pathLst>
          </a:custGeom>
          <a:solidFill>
            <a:srgbClr val="E3F0D8"/>
          </a:solidFill>
        </p:spPr>
        <p:txBody>
          <a:bodyPr/>
          <a:p>
            <a:endParaRPr lang="zh-CN" altLang="en-US"/>
          </a:p>
        </p:txBody>
      </p:sp>
      <p:sp>
        <p:nvSpPr>
          <p:cNvPr id="5" name="TextBox 5"/>
          <p:cNvSpPr>
            <a:spLocks noGrp="1"/>
          </p:cNvSpPr>
          <p:nvPr/>
        </p:nvSpPr>
        <p:spPr>
          <a:xfrm>
            <a:off x="9295269" y="2608628"/>
            <a:ext cx="8032098" cy="2917091"/>
          </a:xfrm>
          <a:prstGeom prst="rect">
            <a:avLst/>
          </a:prstGeom>
        </p:spPr>
        <p:txBody>
          <a:bodyPr lIns="50800" tIns="50800" rIns="50800" bIns="50800" anchor="ctr"/>
          <a:lstStyle/>
          <a:p>
            <a:pPr algn="ctr">
              <a:lnSpc>
                <a:spcPts val="2660"/>
              </a:lnSpc>
              <a:buNone/>
            </a:pPr>
          </a:p>
        </p:txBody>
      </p:sp>
      <p:sp>
        <p:nvSpPr>
          <p:cNvPr id="6" name="Freeform 6"/>
          <p:cNvSpPr>
            <a:spLocks noGrp="1"/>
          </p:cNvSpPr>
          <p:nvPr/>
        </p:nvSpPr>
        <p:spPr>
          <a:xfrm>
            <a:off x="8734656" y="3404166"/>
            <a:ext cx="1266937" cy="1250813"/>
          </a:xfrm>
          <a:custGeom>
            <a:avLst/>
            <a:gdLst/>
            <a:ahLst/>
            <a:cxnLst/>
            <a:rect l="l" t="t" r="r" b="b"/>
            <a:pathLst>
              <a:path w="1266937" h="1250813">
                <a:moveTo>
                  <a:pt x="0" y="0"/>
                </a:moveTo>
                <a:lnTo>
                  <a:pt x="1266937" y="0"/>
                </a:lnTo>
                <a:lnTo>
                  <a:pt x="1266937" y="1250812"/>
                </a:lnTo>
                <a:lnTo>
                  <a:pt x="0" y="125081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rnd">
            <a:noFill/>
            <a:prstDash val="solid"/>
            <a:round/>
          </a:ln>
        </p:spPr>
        <p:txBody>
          <a:bodyPr/>
          <a:p>
            <a:endParaRPr lang="zh-CN" altLang="en-US"/>
          </a:p>
        </p:txBody>
      </p:sp>
      <p:sp>
        <p:nvSpPr>
          <p:cNvPr id="7" name="Freeform 7"/>
          <p:cNvSpPr>
            <a:spLocks noGrp="1"/>
          </p:cNvSpPr>
          <p:nvPr/>
        </p:nvSpPr>
        <p:spPr>
          <a:xfrm rot="-2017032">
            <a:off x="17133199" y="8912557"/>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a:spLocks noGrp="1"/>
          </p:cNvSpPr>
          <p:nvPr/>
        </p:nvSpPr>
        <p:spPr>
          <a:xfrm rot="-2017032">
            <a:off x="9896831" y="749581"/>
            <a:ext cx="1148968" cy="1980980"/>
          </a:xfrm>
          <a:custGeom>
            <a:avLst/>
            <a:gdLst/>
            <a:ahLst/>
            <a:cxnLst/>
            <a:rect l="l" t="t" r="r" b="b"/>
            <a:pathLst>
              <a:path w="1148968" h="1980980">
                <a:moveTo>
                  <a:pt x="0" y="0"/>
                </a:moveTo>
                <a:lnTo>
                  <a:pt x="1148968" y="0"/>
                </a:lnTo>
                <a:lnTo>
                  <a:pt x="1148968" y="1980980"/>
                </a:lnTo>
                <a:lnTo>
                  <a:pt x="0" y="19809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a:spLocks noGrp="1"/>
          </p:cNvSpPr>
          <p:nvPr/>
        </p:nvSpPr>
        <p:spPr>
          <a:xfrm rot="-9232430">
            <a:off x="14167163" y="-648424"/>
            <a:ext cx="4787664" cy="3159858"/>
          </a:xfrm>
          <a:custGeom>
            <a:avLst/>
            <a:gdLst/>
            <a:ahLst/>
            <a:cxnLst/>
            <a:rect l="l" t="t" r="r" b="b"/>
            <a:pathLst>
              <a:path w="4787664" h="3159858">
                <a:moveTo>
                  <a:pt x="0" y="0"/>
                </a:moveTo>
                <a:lnTo>
                  <a:pt x="4787664" y="0"/>
                </a:lnTo>
                <a:lnTo>
                  <a:pt x="4787664" y="3159859"/>
                </a:lnTo>
                <a:lnTo>
                  <a:pt x="0" y="31598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a:spLocks noGrp="1"/>
          </p:cNvSpPr>
          <p:nvPr/>
        </p:nvSpPr>
        <p:spPr>
          <a:xfrm>
            <a:off x="9295269" y="6123880"/>
            <a:ext cx="8032098" cy="2764491"/>
          </a:xfrm>
          <a:custGeom>
            <a:avLst/>
            <a:gdLst/>
            <a:ahLst/>
            <a:cxnLst/>
            <a:rect l="l" t="t" r="r" b="b"/>
            <a:pathLst>
              <a:path w="2005386" h="690215">
                <a:moveTo>
                  <a:pt x="49158" y="0"/>
                </a:moveTo>
                <a:lnTo>
                  <a:pt x="1956229" y="0"/>
                </a:lnTo>
                <a:cubicBezTo>
                  <a:pt x="1983378" y="0"/>
                  <a:pt x="2005386" y="22009"/>
                  <a:pt x="2005386" y="49158"/>
                </a:cubicBezTo>
                <a:lnTo>
                  <a:pt x="2005386" y="641057"/>
                </a:lnTo>
                <a:cubicBezTo>
                  <a:pt x="2005386" y="668206"/>
                  <a:pt x="1983378" y="690215"/>
                  <a:pt x="1956229" y="690215"/>
                </a:cubicBezTo>
                <a:lnTo>
                  <a:pt x="49158" y="690215"/>
                </a:lnTo>
                <a:cubicBezTo>
                  <a:pt x="22009" y="690215"/>
                  <a:pt x="0" y="668206"/>
                  <a:pt x="0" y="641057"/>
                </a:cubicBezTo>
                <a:lnTo>
                  <a:pt x="0" y="49158"/>
                </a:lnTo>
                <a:cubicBezTo>
                  <a:pt x="0" y="22009"/>
                  <a:pt x="22009" y="0"/>
                  <a:pt x="49158" y="0"/>
                </a:cubicBezTo>
                <a:close/>
              </a:path>
            </a:pathLst>
          </a:custGeom>
          <a:solidFill>
            <a:srgbClr val="E3F0D8"/>
          </a:solidFill>
        </p:spPr>
      </p:sp>
      <p:sp>
        <p:nvSpPr>
          <p:cNvPr id="12" name="TextBox 12"/>
          <p:cNvSpPr>
            <a:spLocks noGrp="1"/>
          </p:cNvSpPr>
          <p:nvPr/>
        </p:nvSpPr>
        <p:spPr>
          <a:xfrm>
            <a:off x="9295269" y="5885555"/>
            <a:ext cx="8032098" cy="2917091"/>
          </a:xfrm>
          <a:prstGeom prst="rect">
            <a:avLst/>
          </a:prstGeom>
        </p:spPr>
        <p:txBody>
          <a:bodyPr lIns="50800" tIns="50800" rIns="50800" bIns="50800" anchor="ctr"/>
          <a:lstStyle/>
          <a:p>
            <a:pPr algn="ctr">
              <a:lnSpc>
                <a:spcPts val="2660"/>
              </a:lnSpc>
              <a:buNone/>
            </a:pPr>
            <a:endParaRPr sz="2800">
              <a:solidFill>
                <a:srgbClr val="173F35"/>
              </a:solidFill>
              <a:latin typeface="Segoe UI"/>
              <a:ea typeface="Segoe UI"/>
              <a:cs typeface="Segoe UI"/>
            </a:endParaRPr>
          </a:p>
        </p:txBody>
      </p:sp>
      <p:sp>
        <p:nvSpPr>
          <p:cNvPr id="13" name="Freeform 13"/>
          <p:cNvSpPr>
            <a:spLocks noGrp="1"/>
          </p:cNvSpPr>
          <p:nvPr/>
        </p:nvSpPr>
        <p:spPr>
          <a:xfrm>
            <a:off x="8734656" y="6681093"/>
            <a:ext cx="1266937" cy="1250813"/>
          </a:xfrm>
          <a:custGeom>
            <a:avLst/>
            <a:gdLst/>
            <a:ahLst/>
            <a:cxnLst/>
            <a:rect l="l" t="t" r="r" b="b"/>
            <a:pathLst>
              <a:path w="1266937" h="1250813">
                <a:moveTo>
                  <a:pt x="0" y="0"/>
                </a:moveTo>
                <a:lnTo>
                  <a:pt x="1266937" y="0"/>
                </a:lnTo>
                <a:lnTo>
                  <a:pt x="1266937" y="1250812"/>
                </a:lnTo>
                <a:lnTo>
                  <a:pt x="0" y="125081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rnd">
            <a:noFill/>
            <a:prstDash val="solid"/>
            <a:round/>
          </a:ln>
        </p:spPr>
      </p:sp>
      <p:sp>
        <p:nvSpPr>
          <p:cNvPr id="14" name="Freeform 14"/>
          <p:cNvSpPr>
            <a:spLocks noGrp="1"/>
          </p:cNvSpPr>
          <p:nvPr/>
        </p:nvSpPr>
        <p:spPr>
          <a:xfrm flipH="1">
            <a:off x="1447627" y="1867108"/>
            <a:ext cx="5472684" cy="8229600"/>
          </a:xfrm>
          <a:custGeom>
            <a:avLst/>
            <a:gdLst/>
            <a:ahLst/>
            <a:cxnLst/>
            <a:rect l="l" t="t" r="r" b="b"/>
            <a:pathLst>
              <a:path w="5472684" h="8229600">
                <a:moveTo>
                  <a:pt x="5472684" y="0"/>
                </a:moveTo>
                <a:lnTo>
                  <a:pt x="0" y="0"/>
                </a:lnTo>
                <a:lnTo>
                  <a:pt x="0" y="8229600"/>
                </a:lnTo>
                <a:lnTo>
                  <a:pt x="5472684" y="8229600"/>
                </a:lnTo>
                <a:lnTo>
                  <a:pt x="5472684" y="0"/>
                </a:lnTo>
                <a:close/>
              </a:path>
            </a:pathLst>
          </a:custGeom>
          <a:blipFill>
            <a:blip r:embed="rId8"/>
            <a:stretch>
              <a:fillRect/>
            </a:stretch>
          </a:blipFill>
        </p:spPr>
      </p:sp>
      <p:sp>
        <p:nvSpPr>
          <p:cNvPr id="15" name="TextBox 15"/>
          <p:cNvSpPr>
            <a:spLocks noGrp="1"/>
          </p:cNvSpPr>
          <p:nvPr/>
        </p:nvSpPr>
        <p:spPr>
          <a:xfrm>
            <a:off x="2895628" y="246279"/>
            <a:ext cx="7942514" cy="1207135"/>
          </a:xfrm>
          <a:prstGeom prst="rect">
            <a:avLst/>
          </a:prstGeom>
        </p:spPr>
        <p:txBody>
          <a:bodyPr lIns="0" tIns="0" rIns="0" bIns="0" anchor="ctr"/>
          <a:lstStyle>
            <a:defPPr algn="l">
              <a:defRPr sz="10950">
                <a:solidFill>
                  <a:srgbClr val="173F35"/>
                </a:solidFill>
                <a:latin typeface="Segoe UI"/>
                <a:ea typeface="Segoe UI"/>
                <a:cs typeface="Segoe UI"/>
              </a:defRPr>
            </a:defPPr>
            <a:lvl1pPr algn="l">
              <a:defRPr sz="10950">
                <a:solidFill>
                  <a:srgbClr val="173F35"/>
                </a:solidFill>
                <a:latin typeface="Segoe UI"/>
                <a:ea typeface="Segoe UI"/>
                <a:cs typeface="Segoe UI"/>
              </a:defRPr>
            </a:lvl1pPr>
            <a:lvl2pPr algn="l">
              <a:defRPr sz="10950">
                <a:solidFill>
                  <a:srgbClr val="173F35"/>
                </a:solidFill>
                <a:latin typeface="Segoe UI"/>
                <a:ea typeface="Segoe UI"/>
                <a:cs typeface="Segoe UI"/>
              </a:defRPr>
            </a:lvl2pPr>
            <a:lvl3pPr algn="l">
              <a:defRPr sz="10950">
                <a:solidFill>
                  <a:srgbClr val="173F35"/>
                </a:solidFill>
                <a:latin typeface="Segoe UI"/>
                <a:ea typeface="Segoe UI"/>
                <a:cs typeface="Segoe UI"/>
              </a:defRPr>
            </a:lvl3pPr>
            <a:lvl4pPr algn="l">
              <a:defRPr sz="10950">
                <a:solidFill>
                  <a:srgbClr val="173F35"/>
                </a:solidFill>
                <a:latin typeface="Segoe UI"/>
                <a:ea typeface="Segoe UI"/>
                <a:cs typeface="Segoe UI"/>
              </a:defRPr>
            </a:lvl4pPr>
            <a:lvl5pPr algn="l">
              <a:defRPr sz="10950">
                <a:solidFill>
                  <a:srgbClr val="173F35"/>
                </a:solidFill>
                <a:latin typeface="Segoe UI"/>
                <a:ea typeface="Segoe UI"/>
                <a:cs typeface="Segoe UI"/>
              </a:defRPr>
            </a:lvl5pPr>
            <a:lvl6pPr algn="l">
              <a:defRPr sz="10950">
                <a:solidFill>
                  <a:srgbClr val="173F35"/>
                </a:solidFill>
                <a:latin typeface="Segoe UI"/>
                <a:ea typeface="Segoe UI"/>
                <a:cs typeface="Segoe UI"/>
              </a:defRPr>
            </a:lvl6pPr>
            <a:lvl7pPr algn="l">
              <a:defRPr sz="10950">
                <a:solidFill>
                  <a:srgbClr val="173F35"/>
                </a:solidFill>
                <a:latin typeface="Segoe UI"/>
                <a:ea typeface="Segoe UI"/>
                <a:cs typeface="Segoe UI"/>
              </a:defRPr>
            </a:lvl7pPr>
            <a:lvl8pPr algn="l">
              <a:defRPr sz="10950">
                <a:solidFill>
                  <a:srgbClr val="173F35"/>
                </a:solidFill>
                <a:latin typeface="Segoe UI"/>
                <a:ea typeface="Segoe UI"/>
                <a:cs typeface="Segoe UI"/>
              </a:defRPr>
            </a:lvl8pPr>
            <a:lvl9pPr algn="l">
              <a:defRPr sz="10950">
                <a:solidFill>
                  <a:srgbClr val="173F35"/>
                </a:solidFill>
                <a:latin typeface="Segoe UI"/>
                <a:ea typeface="Segoe UI"/>
                <a:cs typeface="Segoe UI"/>
              </a:defRPr>
            </a:lvl9pPr>
          </a:lstStyle>
          <a:p>
            <a:pPr algn="l">
              <a:lnSpc>
                <a:spcPts val="9505"/>
              </a:lnSpc>
              <a:buNone/>
            </a:pPr>
            <a:r>
              <a:rPr sz="6200" b="0">
                <a:solidFill>
                  <a:srgbClr val="173F35"/>
                </a:solidFill>
                <a:latin typeface="Segoe UI"/>
                <a:ea typeface="Segoe UI"/>
                <a:cs typeface="Segoe UI"/>
              </a:rPr>
              <a:t>Expected Impact</a:t>
            </a:r>
          </a:p>
        </p:txBody>
      </p:sp>
      <p:sp>
        <p:nvSpPr>
          <p:cNvPr id="16" name="TextBox 16"/>
          <p:cNvSpPr>
            <a:spLocks noGrp="1"/>
          </p:cNvSpPr>
          <p:nvPr/>
        </p:nvSpPr>
        <p:spPr>
          <a:xfrm>
            <a:off x="380800" y="266673"/>
            <a:ext cx="3734215" cy="1089660"/>
          </a:xfrm>
          <a:prstGeom prst="rect">
            <a:avLst/>
          </a:prstGeom>
        </p:spPr>
        <p:txBody>
          <a:bodyPr wrap="square" lIns="0" tIns="0" rIns="0" bIns="0" anchor="t">
            <a:spAutoFit/>
          </a:bodyPr>
          <a:lstStyle>
            <a:defPPr algn="l">
              <a:defRPr sz="3035">
                <a:solidFill>
                  <a:srgbClr val="2D6B57"/>
                </a:solidFill>
                <a:latin typeface="Segoe UI"/>
                <a:ea typeface="Segoe UI"/>
                <a:cs typeface="Segoe UI"/>
              </a:defRPr>
            </a:defPPr>
            <a:lvl1pPr algn="l">
              <a:defRPr sz="3035">
                <a:solidFill>
                  <a:srgbClr val="2D6B57"/>
                </a:solidFill>
                <a:latin typeface="Segoe UI"/>
                <a:ea typeface="Segoe UI"/>
                <a:cs typeface="Segoe UI"/>
              </a:defRPr>
            </a:lvl1pPr>
            <a:lvl2pPr algn="l">
              <a:defRPr sz="3035">
                <a:solidFill>
                  <a:srgbClr val="2D6B57"/>
                </a:solidFill>
                <a:latin typeface="Segoe UI"/>
                <a:ea typeface="Segoe UI"/>
                <a:cs typeface="Segoe UI"/>
              </a:defRPr>
            </a:lvl2pPr>
            <a:lvl3pPr algn="l">
              <a:defRPr sz="3035">
                <a:solidFill>
                  <a:srgbClr val="2D6B57"/>
                </a:solidFill>
                <a:latin typeface="Segoe UI"/>
                <a:ea typeface="Segoe UI"/>
                <a:cs typeface="Segoe UI"/>
              </a:defRPr>
            </a:lvl3pPr>
            <a:lvl4pPr algn="l">
              <a:defRPr sz="3035">
                <a:solidFill>
                  <a:srgbClr val="2D6B57"/>
                </a:solidFill>
                <a:latin typeface="Segoe UI"/>
                <a:ea typeface="Segoe UI"/>
                <a:cs typeface="Segoe UI"/>
              </a:defRPr>
            </a:lvl4pPr>
            <a:lvl5pPr algn="l">
              <a:defRPr sz="3035">
                <a:solidFill>
                  <a:srgbClr val="2D6B57"/>
                </a:solidFill>
                <a:latin typeface="Segoe UI"/>
                <a:ea typeface="Segoe UI"/>
                <a:cs typeface="Segoe UI"/>
              </a:defRPr>
            </a:lvl5pPr>
            <a:lvl6pPr algn="l">
              <a:defRPr sz="3035">
                <a:solidFill>
                  <a:srgbClr val="2D6B57"/>
                </a:solidFill>
                <a:latin typeface="Segoe UI"/>
                <a:ea typeface="Segoe UI"/>
                <a:cs typeface="Segoe UI"/>
              </a:defRPr>
            </a:lvl6pPr>
            <a:lvl7pPr algn="l">
              <a:defRPr sz="3035">
                <a:solidFill>
                  <a:srgbClr val="2D6B57"/>
                </a:solidFill>
                <a:latin typeface="Segoe UI"/>
                <a:ea typeface="Segoe UI"/>
                <a:cs typeface="Segoe UI"/>
              </a:defRPr>
            </a:lvl7pPr>
            <a:lvl8pPr algn="l">
              <a:defRPr sz="3035">
                <a:solidFill>
                  <a:srgbClr val="2D6B57"/>
                </a:solidFill>
                <a:latin typeface="Segoe UI"/>
                <a:ea typeface="Segoe UI"/>
                <a:cs typeface="Segoe UI"/>
              </a:defRPr>
            </a:lvl8pPr>
            <a:lvl9pPr algn="l">
              <a:defRPr sz="3035">
                <a:solidFill>
                  <a:srgbClr val="2D6B57"/>
                </a:solidFill>
                <a:latin typeface="Segoe UI"/>
                <a:ea typeface="Segoe UI"/>
                <a:cs typeface="Segoe UI"/>
              </a:defRPr>
            </a:lvl9pPr>
          </a:lstStyle>
          <a:p>
            <a:pPr algn="l">
              <a:lnSpc>
                <a:spcPts val="4250"/>
              </a:lnSpc>
              <a:buNone/>
              <a:defRPr sz="3035">
                <a:solidFill>
                  <a:srgbClr val="2D6B57"/>
                </a:solidFill>
                <a:latin typeface="Segoe UI"/>
                <a:ea typeface="Segoe UI"/>
                <a:cs typeface="Segoe UI"/>
              </a:defRPr>
            </a:pPr>
            <a:r>
              <a:rPr sz="3035">
                <a:solidFill>
                  <a:srgbClr val="2D6B57"/>
                </a:solidFill>
                <a:latin typeface="Segoe UI"/>
                <a:ea typeface="Segoe UI"/>
                <a:cs typeface="Segoe UI"/>
              </a:rPr>
              <a:t>AI CAREER NAVIGATOR</a:t>
            </a:r>
            <a:endParaRPr sz="3035">
              <a:solidFill>
                <a:srgbClr val="2D6B57"/>
              </a:solidFill>
              <a:latin typeface="Segoe UI"/>
              <a:ea typeface="Segoe UI"/>
              <a:cs typeface="Segoe UI"/>
            </a:endParaRPr>
          </a:p>
        </p:txBody>
      </p:sp>
      <p:sp>
        <p:nvSpPr>
          <p:cNvPr id="19" name="Freeform 19"/>
          <p:cNvSpPr>
            <a:spLocks noGrp="1"/>
          </p:cNvSpPr>
          <p:nvPr/>
        </p:nvSpPr>
        <p:spPr>
          <a:xfrm rot="-2017032">
            <a:off x="7106800" y="8334032"/>
            <a:ext cx="828613" cy="1428643"/>
          </a:xfrm>
          <a:custGeom>
            <a:avLst/>
            <a:gdLst/>
            <a:ahLst/>
            <a:cxnLst/>
            <a:rect l="l" t="t" r="r" b="b"/>
            <a:pathLst>
              <a:path w="828613" h="1428643">
                <a:moveTo>
                  <a:pt x="0" y="0"/>
                </a:moveTo>
                <a:lnTo>
                  <a:pt x="828613" y="0"/>
                </a:lnTo>
                <a:lnTo>
                  <a:pt x="828613" y="1428643"/>
                </a:lnTo>
                <a:lnTo>
                  <a:pt x="0" y="14286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 name="文本框 2"/>
          <p:cNvSpPr txBox="1"/>
          <p:nvPr/>
        </p:nvSpPr>
        <p:spPr>
          <a:xfrm>
            <a:off x="10001885" y="3467100"/>
            <a:ext cx="6414135" cy="1753235"/>
          </a:xfrm>
          <a:prstGeom prst="rect">
            <a:avLst/>
          </a:prstGeom>
          <a:noFill/>
        </p:spPr>
        <p:txBody>
          <a:bodyPr wrap="square" rtlCol="0" anchor="ctr"/>
          <a:p>
            <a:pPr>
              <a:buNone/>
            </a:pPr>
            <a:r>
              <a:rPr lang="en-US" altLang="zh-CN" sz="3000" b="1">
                <a:solidFill>
                  <a:srgbClr val="111111"/>
                </a:solidFill>
                <a:latin typeface="Segoe UI"/>
                <a:ea typeface="Segoe UI"/>
                <a:cs typeface="Segoe UI"/>
              </a:rPr>
              <a:t>For individuals</a:t>
            </a:r>
          </a:p>
          <a:p>
            <a:pPr>
              <a:spcBef>
                <a:spcPts val="400"/>
              </a:spcBef>
              <a:buNone/>
            </a:pPr>
            <a:r>
              <a:rPr lang="en-US" altLang="zh-CN" sz="2000" b="0">
                <a:solidFill>
                  <a:srgbClr val="111111"/>
                </a:solidFill>
                <a:latin typeface="Segoe UI"/>
                <a:ea typeface="Segoe UI"/>
                <a:cs typeface="Segoe UI"/>
              </a:rPr>
              <a:t>A defensible answer to “what should I learn next”, with time, cost and portfolio evidence attached.</a:t>
            </a:r>
          </a:p>
        </p:txBody>
      </p:sp>
      <p:sp>
        <p:nvSpPr>
          <p:cNvPr id="20" name="文本框 19"/>
          <p:cNvSpPr txBox="1"/>
          <p:nvPr/>
        </p:nvSpPr>
        <p:spPr>
          <a:xfrm>
            <a:off x="9982200" y="6123940"/>
            <a:ext cx="7188835" cy="3026410"/>
          </a:xfrm>
          <a:prstGeom prst="rect">
            <a:avLst/>
          </a:prstGeom>
          <a:noFill/>
        </p:spPr>
        <p:txBody>
          <a:bodyPr wrap="square" rtlCol="0" anchor="ctr"/>
          <a:p>
            <a:pPr algn="l">
              <a:lnSpc>
                <a:spcPts val="2790"/>
              </a:lnSpc>
              <a:buNone/>
            </a:pPr>
            <a:r>
              <a:rPr sz="2500" b="1">
                <a:solidFill>
                  <a:srgbClr val="111111"/>
                </a:solidFill>
                <a:latin typeface="Segoe UI"/>
                <a:ea typeface="Segoe UI"/>
                <a:cs typeface="Segoe UI"/>
              </a:rPr>
              <a:t>For employers and government</a:t>
            </a:r>
          </a:p>
          <a:p>
            <a:pPr algn="l">
              <a:lnSpc>
                <a:spcPts val="2790"/>
              </a:lnSpc>
              <a:spcBef>
                <a:spcPts val="400"/>
              </a:spcBef>
              <a:buNone/>
            </a:pPr>
            <a:r>
              <a:rPr sz="2000" b="0">
                <a:solidFill>
                  <a:srgbClr val="111111"/>
                </a:solidFill>
                <a:latin typeface="Segoe UI"/>
                <a:ea typeface="Segoe UI"/>
                <a:cs typeface="Segoe UI"/>
              </a:rPr>
              <a:t>An auditable signal-to-plan pipeline, with reskilling demand modelled at 68–86/100 across three 2028 futures.</a:t>
            </a:r>
          </a:p>
          <a:p>
            <a:pPr algn="l">
              <a:lnSpc>
                <a:spcPts val="2790"/>
              </a:lnSpc>
              <a:spcBef>
                <a:spcPts val="1000"/>
              </a:spcBef>
              <a:buNone/>
            </a:pPr>
            <a:r>
              <a:rPr sz="2500" b="1">
                <a:solidFill>
                  <a:srgbClr val="111111"/>
                </a:solidFill>
                <a:latin typeface="Segoe UI"/>
                <a:ea typeface="Segoe UI"/>
                <a:cs typeface="Segoe UI"/>
              </a:rPr>
              <a:t>For public value</a:t>
            </a:r>
          </a:p>
          <a:p>
            <a:pPr algn="l">
              <a:lnSpc>
                <a:spcPts val="2790"/>
              </a:lnSpc>
              <a:spcBef>
                <a:spcPts val="400"/>
              </a:spcBef>
              <a:buNone/>
            </a:pPr>
            <a:r>
              <a:rPr sz="2000" b="0">
                <a:solidFill>
                  <a:srgbClr val="111111"/>
                </a:solidFill>
                <a:latin typeface="Segoe UI"/>
                <a:ea typeface="Segoe UI"/>
                <a:cs typeface="Segoe UI"/>
              </a:rPr>
              <a:t>Every matched pathway is mapped to the SDGs it would actually serve — SDG 4 and SDG 13 first for this profile.</a:t>
            </a:r>
          </a:p>
        </p:txBody>
      </p:sp>
      <p:sp>
        <p:nvSpPr>
          <p:cNvPr id="21" name="文本框 20"/>
          <p:cNvSpPr txBox="1"/>
          <p:nvPr/>
        </p:nvSpPr>
        <p:spPr>
          <a:xfrm>
            <a:off x="11658600" y="266700"/>
            <a:ext cx="5472430" cy="2861310"/>
          </a:xfrm>
          <a:prstGeom prst="rect">
            <a:avLst/>
          </a:prstGeom>
          <a:noFill/>
        </p:spPr>
        <p:txBody>
          <a:bodyPr wrap="square" rtlCol="0" anchor="ctr"/>
          <a:p>
            <a:pPr>
              <a:buNone/>
            </a:pPr>
            <a:r>
              <a:rPr lang="en-US" altLang="zh-CN" sz="3400" b="0">
                <a:solidFill>
                  <a:srgbClr val="111111"/>
                </a:solidFill>
                <a:latin typeface="Segoe UI"/>
                <a:ea typeface="Segoe UI"/>
                <a:cs typeface="Segoe UI"/>
              </a:rPr>
              <a:t>5 hours a week. $300. Readiness 83 → 95.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2302</Words>
  <Application>WPS 演示</Application>
  <PresentationFormat>Converted Presentation</PresentationFormat>
  <Paragraphs>81</Paragraphs>
  <Slides>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宋体</vt:lpstr>
      <vt:lpstr>Wingdings</vt:lpstr>
      <vt:lpstr>Arial</vt:lpstr>
      <vt:lpstr>Be Vietnam</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流麦_</cp:lastModifiedBy>
  <cp:revision>20</cp:revision>
  <dcterms:created xsi:type="dcterms:W3CDTF">2026-10-24T12:46:40Z</dcterms:created>
  <dcterms:modified xsi:type="dcterms:W3CDTF">2026-10-24T17:56:17Z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A9E2F511E8394DF488A0B6521A42A3EC_13</vt:lpwstr>
  </property>
</Properties>
</file>